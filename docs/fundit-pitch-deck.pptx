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9d5e46-9537-6d35-3ca0-c35144b180b0}">
          <p14:sldIdLst>
            <p14:sldId id="256"/>
          </p14:sldIdLst>
        </p14:section>
        <p14:section name="Problem" id="{7f247460-3e9c-c11b-51bb-ead51483ccd9}">
          <p14:sldIdLst>
            <p14:sldId id="257"/>
          </p14:sldIdLst>
        </p14:section>
        <p14:section name="Product" id="{d9c7f40b-8050-73bb-baaa-069215453945}">
          <p14:sldIdLst>
            <p14:sldId id="258"/>
            <p14:sldId id="259"/>
          </p14:sldIdLst>
        </p14:section>
        <p14:section name="Circle stack" id="{b92fa254-66c1-a114-42c4-6f0fc81679c5}">
          <p14:sldIdLst>
            <p14:sldId id="260"/>
          </p14:sldIdLst>
        </p14:section>
        <p14:section name="Trust" id="{9d5d788f-b52c-b3d2-9138-d4b7f1650185}">
          <p14:sldIdLst>
            <p14:sldId id="261"/>
            <p14:sldId id="262"/>
          </p14:sldIdLst>
        </p14:section>
        <p14:section name="Status" id="{ef740703-2a37-80ec-dab0-87b4dda15b45}">
          <p14:sldIdLst>
            <p14:sldId id="263"/>
          </p14:sldIdLst>
        </p14:section>
        <p14:section name="Ask" id="{c04a4778-fd71-7bb1-c98b-867b870b3efd}">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Open with the problem: platforms hold donor money first. Fundit gives every fundraiser its own escrow contract on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0:30. The three costs of custodial fundraising.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 1:45. Demo on an Arc testnet build, against the testnet factory. Demo path: sign in with a passkey, save the recovery key, add money, create a Fundit, give 1 USDC with a tip and a message, show the activity list and explorer link, then withdraw to Base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money: the donor's Fundit account gives through donate(). Any USDC that arrives without donate() is booked by settle() with the same fee. One escrow, payouts out. The owner has no path to a creator balance. Treasury rotation only affects where unclaimed fees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 2:30. Arc, USDC and EURC, CCTP V2 with the Forwarding Service, and the Iris fees API work with the mainnet contracts today. Modular Wallets, with passkey-only sign-in, ships in the next release. Bridge Kit, for adding money from other chains, stays behind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3:15. Enforced in immutable code, and renounceOwnership always reverts. Fees are pulled, so a broken treasury never blocks a donation or withdrawal. A new treasury also collects unclaimed fees and tips. The app is a static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donation fee, withdrawal fee and optional tips, all visible on chain before the donor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to 3:45. Contracts live on Arc mainnet and Arc testnet. Testing runs on Arc testnet today: the end-to-end suite signs up with a virtual passkey and runs every money flow there. No traction numbers yet. Every number we report later comes from on-chain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Milestone-based USDC payments. Bracketed targets are placeholders to agree with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to 4:15. State the ask,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indent="0" marL="0">
              <a:buNone/>
              <a:defRPr lang="en-US" sz="3600" b="1" dirty="0">
                <a:solidFill>
                  <a:schemeClr val="bg1"/>
                </a:solidFill>
                <a:latin typeface="Arial" pitchFamily="34" charset="0"/>
                <a:ea typeface="Arial" pitchFamily="34" charset="-122"/>
                <a:cs typeface="Arial" pitchFamily="34" charset="-120"/>
              </a:defRPr>
            </a:lvl1pPr>
          </a:lstStyle>
          <a:p>
            <a:pPr indent="0" marL="0">
              <a:buNone/>
            </a:pP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pic>
        <p:nvPicPr>
          <p:cNvPr id="4" name="Image 0" descr="/private/tmp/claude-501/-Users-kamsispc-kamwsp-fundit/1962da12-be15-40e7-9409-7c27ba608f83/scratchpad/build/fundit-logo-dark.png">    </p:cNvPr>
          <p:cNvPicPr>
            <a:picLocks noChangeAspect="1"/>
          </p:cNvPicPr>
          <p:nvPr/>
        </p:nvPicPr>
        <p:blipFill>
          <a:blip r:embed="rId1"/>
          <a:stretch>
            <a:fillRect/>
          </a:stretch>
        </p:blipFill>
        <p:spPr>
          <a:xfrm>
            <a:off x="548640" y="548640"/>
            <a:ext cx="1589992" cy="36576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rtlCol="0"/>
          <a:lstStyle>
            <a:lvl1pPr indent="0" marL="0">
              <a:buNone/>
              <a:defRPr lang="en-US" sz="2600" b="1" dirty="0">
                <a:solidFill>
                  <a:schemeClr val="tx1"/>
                </a:solidFill>
                <a:latin typeface="Arial" pitchFamily="34" charset="0"/>
                <a:ea typeface="Arial" pitchFamily="34" charset="-122"/>
                <a:cs typeface="Arial" pitchFamily="34" charset="-120"/>
              </a:defRPr>
            </a:lvl1pPr>
          </a:lstStyle>
          <a:p>
            <a:pPr indent="0" marL="0">
              <a:buNone/>
            </a:pPr>
            <a:endParaRPr lang="en-US" sz="2600" dirty="0"/>
          </a:p>
        </p:txBody>
      </p:sp>
      <p:pic>
        <p:nvPicPr>
          <p:cNvPr id="3" name="Image 0" descr="/private/tmp/claude-501/-Users-kamsispc-kamwsp-fundit/1962da12-be15-40e7-9409-7c27ba608f83/scratchpad/build/fundit-logo.png">    </p:cNvPr>
          <p:cNvPicPr>
            <a:picLocks noChangeAspect="1"/>
          </p:cNvPicPr>
          <p:nvPr/>
        </p:nvPicPr>
        <p:blipFill>
          <a:blip r:embed="rId1"/>
          <a:stretch>
            <a:fillRect/>
          </a:stretch>
        </p:blipFill>
        <p:spPr>
          <a:xfrm>
            <a:off x="548640" y="4709160"/>
            <a:ext cx="874496" cy="201168"/>
          </a:xfrm>
          <a:prstGeom prst="rect">
            <a:avLst/>
          </a:prstGeom>
        </p:spPr>
      </p:pic>
      <p:sp>
        <p:nvSpPr>
          <p:cNvPr id="4" name="Text 0"/>
          <p:cNvSpPr/>
          <p:nvPr/>
        </p:nvSpPr>
        <p:spPr>
          <a:xfrm>
            <a:off x="2926080" y="4681728"/>
            <a:ext cx="5029200" cy="256032"/>
          </a:xfrm>
          <a:prstGeom prst="rect">
            <a:avLst/>
          </a:prstGeom>
          <a:noFill/>
          <a:ln/>
        </p:spPr>
        <p:txBody>
          <a:bodyPr wrap="square" lIns="0" tIns="0" rIns="0" bIns="0" rtlCol="0" anchor="ctr"/>
          <a:lstStyle/>
          <a:p>
            <a:pPr algn="r" indent="0" marL="0">
              <a:buNone/>
            </a:pPr>
            <a:r>
              <a:rPr lang="en-US" sz="1000" dirty="0">
                <a:solidFill>
                  <a:schemeClr val="tx2"/>
                </a:solidFill>
              </a:rPr>
              <a:t>Draft for Circle Developer Grants, October 2026</a:t>
            </a:r>
            <a:endParaRPr lang="en-US" sz="10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Crowdfunding escrow on Arc</a:t>
            </a: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Every fundraiser is its own USDC or EURC escrow contract. Only the creator can withdraw, and anyone can audit every inflow and outflow.</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Platforms hold the money first</a:t>
            </a:r>
            <a:endParaRPr lang="en-US" sz="2600" dirty="0"/>
          </a:p>
        </p:txBody>
      </p:sp>
      <p:sp>
        <p:nvSpPr>
          <p:cNvPr id="3" name="card-1"/>
          <p:cNvSpPr/>
          <p:nvPr/>
        </p:nvSpPr>
        <p:spPr>
          <a:xfrm>
            <a:off x="548640" y="1280160"/>
            <a:ext cx="2514600" cy="3017520"/>
          </a:xfrm>
          <a:prstGeom prst="roundRect">
            <a:avLst>
              <a:gd name="adj" fmla="val 4364"/>
            </a:avLst>
          </a:prstGeom>
          <a:solidFill>
            <a:schemeClr val="bg2"/>
          </a:solidFill>
          <a:ln w="12700">
            <a:solidFill>
              <a:schemeClr val="bg2"/>
            </a:solidFill>
            <a:prstDash val="solid"/>
          </a:ln>
        </p:spPr>
      </p:sp>
      <p:sp>
        <p:nvSpPr>
          <p:cNvPr id="4" name="Text 2"/>
          <p:cNvSpPr txBox="1"/>
          <p:nvPr/>
        </p:nvSpPr>
        <p:spPr>
          <a:xfrm>
            <a:off x="73152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Custody risk</a:t>
            </a:r>
            <a:endParaRPr lang="en-US" sz="1600" dirty="0"/>
          </a:p>
        </p:txBody>
      </p:sp>
      <p:sp>
        <p:nvSpPr>
          <p:cNvPr id="5" name="Text 3"/>
          <p:cNvSpPr txBox="1"/>
          <p:nvPr/>
        </p:nvSpPr>
        <p:spPr>
          <a:xfrm>
            <a:off x="73152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The platform can freeze, delay or lose funds. Donors cannot see where their money is.</a:t>
            </a:r>
            <a:endParaRPr lang="en-US" sz="1400" dirty="0"/>
          </a:p>
        </p:txBody>
      </p:sp>
      <p:sp>
        <p:nvSpPr>
          <p:cNvPr id="6" name="card-2"/>
          <p:cNvSpPr/>
          <p:nvPr/>
        </p:nvSpPr>
        <p:spPr>
          <a:xfrm>
            <a:off x="3314700" y="1280160"/>
            <a:ext cx="2514600" cy="3017520"/>
          </a:xfrm>
          <a:prstGeom prst="roundRect">
            <a:avLst>
              <a:gd name="adj" fmla="val 4364"/>
            </a:avLst>
          </a:prstGeom>
          <a:solidFill>
            <a:schemeClr val="bg2"/>
          </a:solidFill>
          <a:ln w="12700">
            <a:solidFill>
              <a:schemeClr val="bg2"/>
            </a:solidFill>
            <a:prstDash val="solid"/>
          </a:ln>
        </p:spPr>
      </p:sp>
      <p:sp>
        <p:nvSpPr>
          <p:cNvPr id="7" name="Text 5"/>
          <p:cNvSpPr txBox="1"/>
          <p:nvPr/>
        </p:nvSpPr>
        <p:spPr>
          <a:xfrm>
            <a:off x="349758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Slow, local payouts</a:t>
            </a:r>
            <a:endParaRPr lang="en-US" sz="1600" dirty="0"/>
          </a:p>
        </p:txBody>
      </p:sp>
      <p:sp>
        <p:nvSpPr>
          <p:cNvPr id="8" name="Text 6"/>
          <p:cNvSpPr txBox="1"/>
          <p:nvPr/>
        </p:nvSpPr>
        <p:spPr>
          <a:xfrm>
            <a:off x="349758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Creators wait days for a bank transfer. Cross-border payouts cost more and take longer.</a:t>
            </a:r>
            <a:endParaRPr lang="en-US" sz="1400" dirty="0"/>
          </a:p>
        </p:txBody>
      </p:sp>
      <p:sp>
        <p:nvSpPr>
          <p:cNvPr id="9" name="card-3"/>
          <p:cNvSpPr/>
          <p:nvPr/>
        </p:nvSpPr>
        <p:spPr>
          <a:xfrm>
            <a:off x="6080760" y="1280160"/>
            <a:ext cx="2514600" cy="3017520"/>
          </a:xfrm>
          <a:prstGeom prst="roundRect">
            <a:avLst>
              <a:gd name="adj" fmla="val 4364"/>
            </a:avLst>
          </a:prstGeom>
          <a:solidFill>
            <a:schemeClr val="bg2"/>
          </a:solidFill>
          <a:ln w="12700">
            <a:solidFill>
              <a:schemeClr val="bg2"/>
            </a:solidFill>
            <a:prstDash val="solid"/>
          </a:ln>
        </p:spPr>
      </p:sp>
      <p:sp>
        <p:nvSpPr>
          <p:cNvPr id="10" name="Text 8"/>
          <p:cNvSpPr txBox="1"/>
          <p:nvPr/>
        </p:nvSpPr>
        <p:spPr>
          <a:xfrm>
            <a:off x="626364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Opaque books</a:t>
            </a:r>
            <a:endParaRPr lang="en-US" sz="1600" dirty="0"/>
          </a:p>
        </p:txBody>
      </p:sp>
      <p:sp>
        <p:nvSpPr>
          <p:cNvPr id="11" name="Text 9"/>
          <p:cNvSpPr txBox="1"/>
          <p:nvPr/>
        </p:nvSpPr>
        <p:spPr>
          <a:xfrm>
            <a:off x="626364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Donors see a total on a web page. Nobody outside the platform can audit inflows and outflows.</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How Fundit works</a:t>
            </a:r>
            <a:endParaRPr lang="en-US" sz="2600" dirty="0"/>
          </a:p>
        </p:txBody>
      </p:sp>
      <p:sp>
        <p:nvSpPr>
          <p:cNvPr id="3" name="dot-4"/>
          <p:cNvSpPr/>
          <p:nvPr/>
        </p:nvSpPr>
        <p:spPr>
          <a:xfrm>
            <a:off x="548640" y="132588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5486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Create</a:t>
            </a:r>
            <a:endParaRPr lang="en-US" sz="1800" dirty="0"/>
          </a:p>
        </p:txBody>
      </p:sp>
      <p:sp>
        <p:nvSpPr>
          <p:cNvPr id="6" name="Text 4"/>
          <p:cNvSpPr txBox="1"/>
          <p:nvPr/>
        </p:nvSpPr>
        <p:spPr>
          <a:xfrm>
            <a:off x="5486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Pick USDC or EURC and a goal. The factory deploys a new escrow and copies the fees into it.</a:t>
            </a:r>
            <a:endParaRPr lang="en-US" sz="1400" dirty="0"/>
          </a:p>
        </p:txBody>
      </p:sp>
      <p:sp>
        <p:nvSpPr>
          <p:cNvPr id="7" name="dot-5"/>
          <p:cNvSpPr/>
          <p:nvPr/>
        </p:nvSpPr>
        <p:spPr>
          <a:xfrm>
            <a:off x="2606040" y="1325880"/>
            <a:ext cx="457200" cy="457200"/>
          </a:xfrm>
          <a:prstGeom prst="ellipse">
            <a:avLst/>
          </a:prstGeom>
          <a:solidFill>
            <a:schemeClr val="accent1"/>
          </a:solidFill>
          <a:ln w="12700">
            <a:solidFill>
              <a:schemeClr val="accent1"/>
            </a:solidFill>
            <a:prstDash val="solid"/>
          </a:ln>
        </p:spPr>
        <p:txBody>
          <a:bodyPr/>
          <a:p/>
        </p:txBody>
      </p:sp>
      <p:sp>
        <p:nvSpPr>
          <p:cNvPr id="8" name="Text 6"/>
          <p:cNvSpPr txBox="1"/>
          <p:nvPr/>
        </p:nvSpPr>
        <p:spPr>
          <a:xfrm>
            <a:off x="26060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26060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Donate</a:t>
            </a:r>
            <a:endParaRPr lang="en-US" sz="1800" dirty="0"/>
          </a:p>
        </p:txBody>
      </p:sp>
      <p:sp>
        <p:nvSpPr>
          <p:cNvPr id="10" name="Text 8"/>
          <p:cNvSpPr txBox="1"/>
          <p:nvPr/>
        </p:nvSpPr>
        <p:spPr>
          <a:xfrm>
            <a:off x="26060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Give from your Fundit account with a passkey. Approve and donate go in one step.</a:t>
            </a:r>
            <a:endParaRPr lang="en-US" sz="1400" dirty="0"/>
          </a:p>
        </p:txBody>
      </p:sp>
      <p:sp>
        <p:nvSpPr>
          <p:cNvPr id="11" name="dot-6"/>
          <p:cNvSpPr/>
          <p:nvPr/>
        </p:nvSpPr>
        <p:spPr>
          <a:xfrm>
            <a:off x="4663440" y="1325880"/>
            <a:ext cx="457200" cy="457200"/>
          </a:xfrm>
          <a:prstGeom prst="ellipse">
            <a:avLst/>
          </a:prstGeom>
          <a:solidFill>
            <a:schemeClr val="accent1"/>
          </a:solidFill>
          <a:ln w="12700">
            <a:solidFill>
              <a:schemeClr val="accent1"/>
            </a:solidFill>
            <a:prstDash val="solid"/>
          </a:ln>
        </p:spPr>
        <p:txBody>
          <a:bodyPr/>
          <a:p/>
        </p:txBody>
      </p:sp>
      <p:sp>
        <p:nvSpPr>
          <p:cNvPr id="12" name="Text 10"/>
          <p:cNvSpPr txBox="1"/>
          <p:nvPr/>
        </p:nvSpPr>
        <p:spPr>
          <a:xfrm>
            <a:off x="46634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46634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Settle</a:t>
            </a:r>
            <a:endParaRPr lang="en-US" sz="1800" dirty="0"/>
          </a:p>
        </p:txBody>
      </p:sp>
      <p:sp>
        <p:nvSpPr>
          <p:cNvPr id="14" name="Text 12"/>
          <p:cNvSpPr txBox="1"/>
          <p:nvPr/>
        </p:nvSpPr>
        <p:spPr>
          <a:xfrm>
            <a:off x="46634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Any USDC that arrives without donate() is booked by settle() and pays the same fee.</a:t>
            </a:r>
            <a:endParaRPr lang="en-US" sz="1400" dirty="0"/>
          </a:p>
        </p:txBody>
      </p:sp>
      <p:sp>
        <p:nvSpPr>
          <p:cNvPr id="15" name="dot-7"/>
          <p:cNvSpPr/>
          <p:nvPr/>
        </p:nvSpPr>
        <p:spPr>
          <a:xfrm>
            <a:off x="6720840" y="1325880"/>
            <a:ext cx="457200" cy="457200"/>
          </a:xfrm>
          <a:prstGeom prst="ellipse">
            <a:avLst/>
          </a:prstGeom>
          <a:solidFill>
            <a:schemeClr val="accent2"/>
          </a:solidFill>
          <a:ln w="12700">
            <a:solidFill>
              <a:schemeClr val="accent2"/>
            </a:solidFill>
            <a:prstDash val="solid"/>
          </a:ln>
        </p:spPr>
        <p:txBody>
          <a:bodyPr/>
          <a:p/>
        </p:txBody>
      </p:sp>
      <p:sp>
        <p:nvSpPr>
          <p:cNvPr id="16" name="Text 14"/>
          <p:cNvSpPr txBox="1"/>
          <p:nvPr/>
        </p:nvSpPr>
        <p:spPr>
          <a:xfrm>
            <a:off x="67208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67208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Withdraw</a:t>
            </a:r>
            <a:endParaRPr lang="en-US" sz="1800" dirty="0"/>
          </a:p>
        </p:txBody>
      </p:sp>
      <p:sp>
        <p:nvSpPr>
          <p:cNvPr id="18" name="Text 16"/>
          <p:cNvSpPr txBox="1"/>
          <p:nvPr/>
        </p:nvSpPr>
        <p:spPr>
          <a:xfrm>
            <a:off x="67208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The creator takes funds on Arc, or gets USDC on six other chains through CCTP V2.</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One escrow contract per fundraiser</a:t>
            </a:r>
            <a:endParaRPr lang="en-US" sz="2600" dirty="0"/>
          </a:p>
        </p:txBody>
      </p:sp>
      <p:sp>
        <p:nvSpPr>
          <p:cNvPr id="3" name="node-8"/>
          <p:cNvSpPr/>
          <p:nvPr/>
        </p:nvSpPr>
        <p:spPr>
          <a:xfrm>
            <a:off x="548640" y="11887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4" name="Text 2"/>
          <p:cNvSpPr txBox="1"/>
          <p:nvPr/>
        </p:nvSpPr>
        <p:spPr>
          <a:xfrm>
            <a:off x="658368" y="11887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Donor's Fundit account</a:t>
            </a:r>
            <a:endParaRPr lang="en-US" sz="1400" dirty="0"/>
          </a:p>
          <a:p>
            <a:pPr indent="0" marL="0">
              <a:buNone/>
            </a:pPr>
            <a:r>
              <a:rPr lang="en-US" sz="1100" dirty="0">
                <a:solidFill>
                  <a:schemeClr val="tx2"/>
                </a:solidFill>
              </a:rPr>
              <a:t>Passkey, then donate()</a:t>
            </a:r>
            <a:endParaRPr lang="en-US" sz="1400" dirty="0"/>
          </a:p>
        </p:txBody>
      </p:sp>
      <p:sp>
        <p:nvSpPr>
          <p:cNvPr id="5" name="node-9"/>
          <p:cNvSpPr/>
          <p:nvPr/>
        </p:nvSpPr>
        <p:spPr>
          <a:xfrm>
            <a:off x="548640" y="21031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6" name="Text 4"/>
          <p:cNvSpPr txBox="1"/>
          <p:nvPr/>
        </p:nvSpPr>
        <p:spPr>
          <a:xfrm>
            <a:off x="658368" y="21031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Direct CCTP mint</a:t>
            </a:r>
            <a:endParaRPr lang="en-US" sz="1400" dirty="0"/>
          </a:p>
          <a:p>
            <a:pPr indent="0" marL="0">
              <a:buNone/>
            </a:pPr>
            <a:r>
              <a:rPr lang="en-US" sz="1100" dirty="0">
                <a:solidFill>
                  <a:schemeClr val="tx2"/>
                </a:solidFill>
              </a:rPr>
              <a:t>Outside the app, then settle()</a:t>
            </a:r>
            <a:endParaRPr lang="en-US" sz="1400" dirty="0"/>
          </a:p>
        </p:txBody>
      </p:sp>
      <p:sp>
        <p:nvSpPr>
          <p:cNvPr id="7" name="node-10"/>
          <p:cNvSpPr/>
          <p:nvPr/>
        </p:nvSpPr>
        <p:spPr>
          <a:xfrm>
            <a:off x="548640" y="30175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8" name="Text 6"/>
          <p:cNvSpPr txBox="1"/>
          <p:nvPr/>
        </p:nvSpPr>
        <p:spPr>
          <a:xfrm>
            <a:off x="658368" y="30175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Plain USDC transfer</a:t>
            </a:r>
            <a:endParaRPr lang="en-US" sz="1400" dirty="0"/>
          </a:p>
          <a:p>
            <a:pPr indent="0" marL="0">
              <a:buNone/>
            </a:pPr>
            <a:r>
              <a:rPr lang="en-US" sz="1100" dirty="0">
                <a:solidFill>
                  <a:schemeClr val="tx2"/>
                </a:solidFill>
              </a:rPr>
              <a:t>Any wallet, then settle()</a:t>
            </a:r>
            <a:endParaRPr lang="en-US" sz="1400" dirty="0"/>
          </a:p>
        </p:txBody>
      </p:sp>
      <p:sp>
        <p:nvSpPr>
          <p:cNvPr id="9" name="node-11"/>
          <p:cNvSpPr/>
          <p:nvPr/>
        </p:nvSpPr>
        <p:spPr>
          <a:xfrm>
            <a:off x="3429000" y="1737360"/>
            <a:ext cx="2286000" cy="1463040"/>
          </a:xfrm>
          <a:prstGeom prst="roundRect">
            <a:avLst>
              <a:gd name="adj" fmla="val 6250"/>
            </a:avLst>
          </a:prstGeom>
          <a:solidFill>
            <a:schemeClr val="bg1"/>
          </a:solidFill>
          <a:ln w="31750">
            <a:solidFill>
              <a:schemeClr val="accent1"/>
            </a:solidFill>
            <a:prstDash val="solid"/>
          </a:ln>
        </p:spPr>
        <p:txBody>
          <a:bodyPr/>
          <a:p/>
        </p:txBody>
      </p:sp>
      <p:sp>
        <p:nvSpPr>
          <p:cNvPr id="10" name="Text 8"/>
          <p:cNvSpPr txBox="1"/>
          <p:nvPr/>
        </p:nvSpPr>
        <p:spPr>
          <a:xfrm>
            <a:off x="3538728" y="1737360"/>
            <a:ext cx="2066544" cy="1463040"/>
          </a:xfrm>
          <a:prstGeom prst="rect">
            <a:avLst/>
          </a:prstGeom>
          <a:noFill/>
          <a:ln/>
        </p:spPr>
        <p:txBody>
          <a:bodyPr wrap="square" lIns="0" tIns="0" rIns="0" bIns="0" rtlCol="0" anchor="ctr"/>
          <a:lstStyle/>
          <a:p>
            <a:pPr indent="0" marL="0">
              <a:buNone/>
            </a:pPr>
            <a:r>
              <a:rPr lang="en-US" sz="1400" b="1" dirty="0">
                <a:solidFill>
                  <a:schemeClr val="tx1"/>
                </a:solidFill>
              </a:rPr>
              <a:t>Campaign escrow on Arc</a:t>
            </a:r>
            <a:endParaRPr lang="en-US" sz="1400" dirty="0"/>
          </a:p>
          <a:p>
            <a:pPr indent="0" marL="0">
              <a:buNone/>
            </a:pPr>
            <a:r>
              <a:rPr lang="en-US" sz="1100" dirty="0">
                <a:solidFill>
                  <a:schemeClr val="tx2"/>
                </a:solidFill>
              </a:rPr>
              <a:t>EIP-1167 clone. Holds USDC or EURC. Owner cannot move creator balances.</a:t>
            </a:r>
            <a:endParaRPr lang="en-US" sz="1400" dirty="0"/>
          </a:p>
        </p:txBody>
      </p:sp>
      <p:sp>
        <p:nvSpPr>
          <p:cNvPr id="11" name="node-12"/>
          <p:cNvSpPr/>
          <p:nvPr/>
        </p:nvSpPr>
        <p:spPr>
          <a:xfrm>
            <a:off x="3429000" y="356616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2" name="Text 10"/>
          <p:cNvSpPr txBox="1"/>
          <p:nvPr/>
        </p:nvSpPr>
        <p:spPr>
          <a:xfrm>
            <a:off x="3538728" y="356616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CampaignFactory</a:t>
            </a:r>
            <a:endParaRPr lang="en-US" sz="1400" dirty="0"/>
          </a:p>
          <a:p>
            <a:pPr indent="0" marL="0">
              <a:buNone/>
            </a:pPr>
            <a:r>
              <a:rPr lang="en-US" sz="1100" dirty="0">
                <a:solidFill>
                  <a:schemeClr val="tx2"/>
                </a:solidFill>
              </a:rPr>
              <a:t>Fees copied once, capped at 5%</a:t>
            </a:r>
            <a:endParaRPr lang="en-US" sz="1400" dirty="0"/>
          </a:p>
        </p:txBody>
      </p:sp>
      <p:sp>
        <p:nvSpPr>
          <p:cNvPr id="13" name="node-13"/>
          <p:cNvSpPr/>
          <p:nvPr/>
        </p:nvSpPr>
        <p:spPr>
          <a:xfrm>
            <a:off x="6309360" y="11887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4" name="Text 12"/>
          <p:cNvSpPr txBox="1"/>
          <p:nvPr/>
        </p:nvSpPr>
        <p:spPr>
          <a:xfrm>
            <a:off x="6419088" y="11887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Creator on Arc</a:t>
            </a:r>
            <a:endParaRPr lang="en-US" sz="1400" dirty="0"/>
          </a:p>
          <a:p>
            <a:pPr indent="0" marL="0">
              <a:buNone/>
            </a:pPr>
            <a:r>
              <a:rPr lang="en-US" sz="1100" dirty="0">
                <a:solidFill>
                  <a:schemeClr val="tx2"/>
                </a:solidFill>
              </a:rPr>
              <a:t>withdraw(), ERC-20 transfer</a:t>
            </a:r>
            <a:endParaRPr lang="en-US" sz="1400" dirty="0"/>
          </a:p>
        </p:txBody>
      </p:sp>
      <p:sp>
        <p:nvSpPr>
          <p:cNvPr id="15" name="node-14"/>
          <p:cNvSpPr/>
          <p:nvPr/>
        </p:nvSpPr>
        <p:spPr>
          <a:xfrm>
            <a:off x="6309360" y="21031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6" name="Text 14"/>
          <p:cNvSpPr txBox="1"/>
          <p:nvPr/>
        </p:nvSpPr>
        <p:spPr>
          <a:xfrm>
            <a:off x="6419088" y="21031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Creator on another chain</a:t>
            </a:r>
            <a:endParaRPr lang="en-US" sz="1400" dirty="0"/>
          </a:p>
          <a:p>
            <a:pPr indent="0" marL="0">
              <a:buNone/>
            </a:pPr>
            <a:r>
              <a:rPr lang="en-US" sz="1100" dirty="0">
                <a:solidFill>
                  <a:schemeClr val="tx2"/>
                </a:solidFill>
              </a:rPr>
              <a:t>CCTP V2 with forwarding</a:t>
            </a:r>
            <a:endParaRPr lang="en-US" sz="1400" dirty="0"/>
          </a:p>
        </p:txBody>
      </p:sp>
      <p:sp>
        <p:nvSpPr>
          <p:cNvPr id="17" name="node-15"/>
          <p:cNvSpPr/>
          <p:nvPr/>
        </p:nvSpPr>
        <p:spPr>
          <a:xfrm>
            <a:off x="6309360" y="30175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8" name="Text 16"/>
          <p:cNvSpPr txBox="1"/>
          <p:nvPr/>
        </p:nvSpPr>
        <p:spPr>
          <a:xfrm>
            <a:off x="6419088" y="30175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Treasury</a:t>
            </a:r>
            <a:endParaRPr lang="en-US" sz="1400" dirty="0"/>
          </a:p>
          <a:p>
            <a:pPr indent="0" marL="0">
              <a:buNone/>
            </a:pPr>
            <a:r>
              <a:rPr lang="en-US" sz="1100" dirty="0">
                <a:solidFill>
                  <a:schemeClr val="tx2"/>
                </a:solidFill>
              </a:rPr>
              <a:t>claimFees(), anyone can call</a:t>
            </a:r>
            <a:endParaRPr lang="en-US" sz="1400" dirty="0"/>
          </a:p>
        </p:txBody>
      </p:sp>
      <p:sp>
        <p:nvSpPr>
          <p:cNvPr id="19" name="edge-16"/>
          <p:cNvSpPr/>
          <p:nvPr/>
        </p:nvSpPr>
        <p:spPr>
          <a:xfrm>
            <a:off x="2834640" y="1554480"/>
            <a:ext cx="594360" cy="457200"/>
          </a:xfrm>
          <a:prstGeom prst="line">
            <a:avLst/>
          </a:prstGeom>
          <a:noFill/>
          <a:ln w="22225">
            <a:solidFill>
              <a:schemeClr val="tx1"/>
            </a:solidFill>
            <a:prstDash val="solid"/>
            <a:tailEnd type="triangle"/>
          </a:ln>
        </p:spPr>
        <p:txBody>
          <a:bodyPr/>
          <a:p/>
        </p:txBody>
      </p:sp>
      <p:sp>
        <p:nvSpPr>
          <p:cNvPr id="20" name="edge-17"/>
          <p:cNvSpPr/>
          <p:nvPr/>
        </p:nvSpPr>
        <p:spPr>
          <a:xfrm>
            <a:off x="2834640" y="2468880"/>
            <a:ext cx="594360" cy="0"/>
          </a:xfrm>
          <a:prstGeom prst="line">
            <a:avLst/>
          </a:prstGeom>
          <a:noFill/>
          <a:ln w="22225">
            <a:solidFill>
              <a:schemeClr val="accent1"/>
            </a:solidFill>
            <a:prstDash val="dash"/>
            <a:tailEnd type="triangle"/>
          </a:ln>
        </p:spPr>
        <p:txBody>
          <a:bodyPr/>
          <a:p/>
        </p:txBody>
      </p:sp>
      <p:sp>
        <p:nvSpPr>
          <p:cNvPr id="21" name="edge-18"/>
          <p:cNvSpPr/>
          <p:nvPr/>
        </p:nvSpPr>
        <p:spPr>
          <a:xfrm flipV="1">
            <a:off x="2834640" y="2926080"/>
            <a:ext cx="594360" cy="457200"/>
          </a:xfrm>
          <a:prstGeom prst="line">
            <a:avLst/>
          </a:prstGeom>
          <a:noFill/>
          <a:ln w="22225">
            <a:solidFill>
              <a:schemeClr val="accent1"/>
            </a:solidFill>
            <a:prstDash val="dash"/>
            <a:tailEnd type="triangle"/>
          </a:ln>
        </p:spPr>
        <p:txBody>
          <a:bodyPr/>
          <a:p/>
        </p:txBody>
      </p:sp>
      <p:sp>
        <p:nvSpPr>
          <p:cNvPr id="22" name="edge-19"/>
          <p:cNvSpPr/>
          <p:nvPr/>
        </p:nvSpPr>
        <p:spPr>
          <a:xfrm flipV="1">
            <a:off x="4572000" y="3200400"/>
            <a:ext cx="0" cy="365760"/>
          </a:xfrm>
          <a:prstGeom prst="line">
            <a:avLst/>
          </a:prstGeom>
          <a:noFill/>
          <a:ln w="22225">
            <a:solidFill>
              <a:schemeClr val="tx1"/>
            </a:solidFill>
            <a:prstDash val="solid"/>
            <a:tailEnd type="triangle"/>
          </a:ln>
        </p:spPr>
        <p:txBody>
          <a:bodyPr/>
          <a:p/>
        </p:txBody>
      </p:sp>
      <p:sp>
        <p:nvSpPr>
          <p:cNvPr id="23" name="edge-20"/>
          <p:cNvSpPr/>
          <p:nvPr/>
        </p:nvSpPr>
        <p:spPr>
          <a:xfrm flipV="1">
            <a:off x="5715000" y="1554480"/>
            <a:ext cx="594360" cy="457200"/>
          </a:xfrm>
          <a:prstGeom prst="line">
            <a:avLst/>
          </a:prstGeom>
          <a:noFill/>
          <a:ln w="22225">
            <a:solidFill>
              <a:schemeClr val="tx1"/>
            </a:solidFill>
            <a:prstDash val="solid"/>
            <a:tailEnd type="triangle"/>
          </a:ln>
        </p:spPr>
        <p:txBody>
          <a:bodyPr/>
          <a:p/>
        </p:txBody>
      </p:sp>
      <p:sp>
        <p:nvSpPr>
          <p:cNvPr id="24" name="edge-21"/>
          <p:cNvSpPr/>
          <p:nvPr/>
        </p:nvSpPr>
        <p:spPr>
          <a:xfrm>
            <a:off x="5715000" y="2468880"/>
            <a:ext cx="594360" cy="0"/>
          </a:xfrm>
          <a:prstGeom prst="line">
            <a:avLst/>
          </a:prstGeom>
          <a:noFill/>
          <a:ln w="22225">
            <a:solidFill>
              <a:schemeClr val="tx1"/>
            </a:solidFill>
            <a:prstDash val="solid"/>
            <a:tailEnd type="triangle"/>
          </a:ln>
        </p:spPr>
        <p:txBody>
          <a:bodyPr/>
          <a:p/>
        </p:txBody>
      </p:sp>
      <p:sp>
        <p:nvSpPr>
          <p:cNvPr id="25" name="edge-22"/>
          <p:cNvSpPr/>
          <p:nvPr/>
        </p:nvSpPr>
        <p:spPr>
          <a:xfrm>
            <a:off x="5715000" y="2926080"/>
            <a:ext cx="594360" cy="457200"/>
          </a:xfrm>
          <a:prstGeom prst="line">
            <a:avLst/>
          </a:prstGeom>
          <a:noFill/>
          <a:ln w="22225">
            <a:solidFill>
              <a:schemeClr val="tx1"/>
            </a:solidFill>
            <a:prstDash val="solid"/>
            <a:tailEnd type="triangle"/>
          </a:ln>
        </p:spPr>
        <p:txBody>
          <a:bodyPr/>
          <a:p/>
        </p:txBody>
      </p:sp>
      <p:sp>
        <p:nvSpPr>
          <p:cNvPr id="26" name="Text 24"/>
          <p:cNvSpPr txBox="1"/>
          <p:nvPr/>
        </p:nvSpPr>
        <p:spPr>
          <a:xfrm>
            <a:off x="548640" y="4023360"/>
            <a:ext cx="2743200" cy="548640"/>
          </a:xfrm>
          <a:prstGeom prst="rect">
            <a:avLst/>
          </a:prstGeom>
          <a:noFill/>
          <a:ln/>
        </p:spPr>
        <p:txBody>
          <a:bodyPr wrap="square" lIns="0" tIns="0" rIns="0" bIns="0" rtlCol="0" anchor="t"/>
          <a:lstStyle/>
          <a:p>
            <a:pPr indent="0" marL="0">
              <a:buNone/>
            </a:pPr>
            <a:r>
              <a:rPr lang="en-US" sz="1100" dirty="0">
                <a:solidFill>
                  <a:schemeClr val="tx2"/>
                </a:solidFill>
              </a:rPr>
              <a:t>Dashed: arrives without donate(). settle() books it with the same fee.</a:t>
            </a:r>
            <a:endParaRPr lang="en-US" sz="11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Built on Circle from the contract up</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743200"/>
                <a:gridCol w="3474720"/>
                <a:gridCol w="1828800"/>
              </a:tblGrid>
              <a:tr h="38404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Use in Fundit</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Arc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Home chain. Gas is paid in USDC.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USDC and EURC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The two campaign tokens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CCTP V2 and Forwarding Service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Payouts and sends to six chains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CCTP fees API (Iris)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Fast and Standard fee quotes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Modular Wallets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Fundit accounts, passkey-only sign-in</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Next release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Bridge Kit</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 money from other chains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Behind a flag</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The owner never touches creator balances</a:t>
            </a:r>
            <a:endParaRPr lang="en-US" sz="2600" dirty="0"/>
          </a:p>
        </p:txBody>
      </p:sp>
      <p:sp>
        <p:nvSpPr>
          <p:cNvPr id="3" name="card-23"/>
          <p:cNvSpPr/>
          <p:nvPr/>
        </p:nvSpPr>
        <p:spPr>
          <a:xfrm>
            <a:off x="54864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4" name="Text 2"/>
          <p:cNvSpPr txBox="1"/>
          <p:nvPr/>
        </p:nvSpPr>
        <p:spPr>
          <a:xfrm>
            <a:off x="731520" y="1325880"/>
            <a:ext cx="2148840" cy="365760"/>
          </a:xfrm>
          <a:prstGeom prst="rect">
            <a:avLst/>
          </a:prstGeom>
          <a:noFill/>
          <a:ln/>
        </p:spPr>
        <p:txBody>
          <a:bodyPr wrap="square" lIns="0" tIns="0" rIns="0" bIns="0" rtlCol="0" anchor="t"/>
          <a:lstStyle/>
          <a:p>
            <a:pPr indent="0" marL="0">
              <a:buNone/>
            </a:pPr>
            <a:r>
              <a:rPr lang="en-US" sz="1600" b="1" dirty="0">
                <a:solidFill>
                  <a:schemeClr val="tx1"/>
                </a:solidFill>
              </a:rPr>
              <a:t>The owner can</a:t>
            </a:r>
            <a:endParaRPr lang="en-US" sz="1600" dirty="0"/>
          </a:p>
        </p:txBody>
      </p:sp>
      <p:sp>
        <p:nvSpPr>
          <p:cNvPr id="5" name="Text 3"/>
          <p:cNvSpPr txBox="1"/>
          <p:nvPr/>
        </p:nvSpPr>
        <p:spPr>
          <a:xfrm>
            <a:off x="73152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Set fees for new campaigns, each at most 5%. Set the treasury, which also receives unclaimed fees and tips. Feature a campaign. Pause new campaigns.</a:t>
            </a:r>
            <a:endParaRPr lang="en-US" sz="1400" dirty="0"/>
          </a:p>
        </p:txBody>
      </p:sp>
      <p:sp>
        <p:nvSpPr>
          <p:cNvPr id="6" name="card-24"/>
          <p:cNvSpPr/>
          <p:nvPr/>
        </p:nvSpPr>
        <p:spPr>
          <a:xfrm>
            <a:off x="331470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7" name="Text 5"/>
          <p:cNvSpPr txBox="1"/>
          <p:nvPr/>
        </p:nvSpPr>
        <p:spPr>
          <a:xfrm>
            <a:off x="3497580" y="1325880"/>
            <a:ext cx="2148840" cy="365760"/>
          </a:xfrm>
          <a:prstGeom prst="rect">
            <a:avLst/>
          </a:prstGeom>
          <a:noFill/>
          <a:ln/>
        </p:spPr>
        <p:txBody>
          <a:bodyPr wrap="square" lIns="0" tIns="0" rIns="0" bIns="0" rtlCol="0" anchor="t"/>
          <a:lstStyle/>
          <a:p>
            <a:pPr indent="0" marL="0">
              <a:buNone/>
            </a:pPr>
            <a:r>
              <a:rPr lang="en-US" sz="1600" b="1" dirty="0">
                <a:solidFill>
                  <a:schemeClr val="accent1"/>
                </a:solidFill>
              </a:rPr>
              <a:t>The owner can never</a:t>
            </a:r>
            <a:endParaRPr lang="en-US" sz="1600" dirty="0"/>
          </a:p>
        </p:txBody>
      </p:sp>
      <p:sp>
        <p:nvSpPr>
          <p:cNvPr id="8" name="Text 6"/>
          <p:cNvSpPr txBox="1"/>
          <p:nvPr/>
        </p:nvSpPr>
        <p:spPr>
          <a:xfrm>
            <a:off x="349758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Move, freeze or redirect a creator's balance. Pause donations or withdrawals. Change an existing campaign's fees, token or creator.</a:t>
            </a:r>
            <a:endParaRPr lang="en-US" sz="1400" dirty="0"/>
          </a:p>
        </p:txBody>
      </p:sp>
      <p:sp>
        <p:nvSpPr>
          <p:cNvPr id="9" name="card-25"/>
          <p:cNvSpPr/>
          <p:nvPr/>
        </p:nvSpPr>
        <p:spPr>
          <a:xfrm>
            <a:off x="608076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10" name="Text 8"/>
          <p:cNvSpPr txBox="1"/>
          <p:nvPr/>
        </p:nvSpPr>
        <p:spPr>
          <a:xfrm>
            <a:off x="6263640" y="1325880"/>
            <a:ext cx="2148840" cy="365760"/>
          </a:xfrm>
          <a:prstGeom prst="rect">
            <a:avLst/>
          </a:prstGeom>
          <a:noFill/>
          <a:ln/>
        </p:spPr>
        <p:txBody>
          <a:bodyPr wrap="square" lIns="0" tIns="0" rIns="0" bIns="0" rtlCol="0" anchor="t"/>
          <a:lstStyle/>
          <a:p>
            <a:pPr indent="0" marL="0">
              <a:buNone/>
            </a:pPr>
            <a:r>
              <a:rPr lang="en-US" sz="1600" b="1" dirty="0">
                <a:solidFill>
                  <a:schemeClr val="accent2"/>
                </a:solidFill>
              </a:rPr>
              <a:t>Creator recovery</a:t>
            </a:r>
            <a:endParaRPr lang="en-US" sz="1600" dirty="0"/>
          </a:p>
        </p:txBody>
      </p:sp>
      <p:sp>
        <p:nvSpPr>
          <p:cNvPr id="11" name="Text 9"/>
          <p:cNvSpPr txBox="1"/>
          <p:nvPr/>
        </p:nvSpPr>
        <p:spPr>
          <a:xfrm>
            <a:off x="626364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An optional backup can take over after a 7-day wait. The creator keeps every power and can cancel at any time.</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Simple, visible, fixed fees</a:t>
            </a:r>
            <a:endParaRPr lang="en-US" sz="2600" dirty="0"/>
          </a:p>
        </p:txBody>
      </p:sp>
      <p:sp>
        <p:nvSpPr>
          <p:cNvPr id="3" name="Text 1"/>
          <p:cNvSpPr txBox="1"/>
          <p:nvPr/>
        </p:nvSpPr>
        <p:spPr>
          <a:xfrm>
            <a:off x="548640" y="1280160"/>
            <a:ext cx="2514600" cy="109728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1%</a:t>
            </a:r>
            <a:endParaRPr lang="en-US" sz="6000" dirty="0"/>
          </a:p>
        </p:txBody>
      </p:sp>
      <p:sp>
        <p:nvSpPr>
          <p:cNvPr id="4" name="Text 2"/>
          <p:cNvSpPr txBox="1"/>
          <p:nvPr/>
        </p:nvSpPr>
        <p:spPr>
          <a:xfrm>
            <a:off x="54864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Donation fee at launch</a:t>
            </a:r>
            <a:endParaRPr lang="en-US" sz="1400" dirty="0"/>
          </a:p>
        </p:txBody>
      </p:sp>
      <p:sp>
        <p:nvSpPr>
          <p:cNvPr id="5" name="Text 3"/>
          <p:cNvSpPr txBox="1"/>
          <p:nvPr/>
        </p:nvSpPr>
        <p:spPr>
          <a:xfrm>
            <a:off x="3314700" y="1280160"/>
            <a:ext cx="2514600" cy="109728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1%</a:t>
            </a:r>
            <a:endParaRPr lang="en-US" sz="6000" dirty="0"/>
          </a:p>
        </p:txBody>
      </p:sp>
      <p:sp>
        <p:nvSpPr>
          <p:cNvPr id="6" name="Text 4"/>
          <p:cNvSpPr txBox="1"/>
          <p:nvPr/>
        </p:nvSpPr>
        <p:spPr>
          <a:xfrm>
            <a:off x="331470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Withdrawal fee at launch</a:t>
            </a:r>
            <a:endParaRPr lang="en-US" sz="1400" dirty="0"/>
          </a:p>
        </p:txBody>
      </p:sp>
      <p:sp>
        <p:nvSpPr>
          <p:cNvPr id="7" name="Text 5"/>
          <p:cNvSpPr txBox="1"/>
          <p:nvPr/>
        </p:nvSpPr>
        <p:spPr>
          <a:xfrm>
            <a:off x="6080760" y="1280160"/>
            <a:ext cx="251460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5%</a:t>
            </a:r>
            <a:endParaRPr lang="en-US" sz="6000" dirty="0"/>
          </a:p>
        </p:txBody>
      </p:sp>
      <p:sp>
        <p:nvSpPr>
          <p:cNvPr id="8" name="Text 6"/>
          <p:cNvSpPr txBox="1"/>
          <p:nvPr/>
        </p:nvSpPr>
        <p:spPr>
          <a:xfrm>
            <a:off x="608076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Hard cap on each fee, in code</a:t>
            </a:r>
            <a:endParaRPr lang="en-US" sz="1400" dirty="0"/>
          </a:p>
        </p:txBody>
      </p:sp>
      <p:sp>
        <p:nvSpPr>
          <p:cNvPr id="9" name="Text 7"/>
          <p:cNvSpPr txBox="1"/>
          <p:nvPr/>
        </p:nvSpPr>
        <p:spPr>
          <a:xfrm>
            <a:off x="548640" y="3383280"/>
            <a:ext cx="8046720" cy="914400"/>
          </a:xfrm>
          <a:prstGeom prst="rect">
            <a:avLst/>
          </a:prstGeom>
          <a:noFill/>
          <a:ln/>
        </p:spPr>
        <p:txBody>
          <a:bodyPr wrap="square" lIns="0" tIns="0" rIns="0" bIns="0" rtlCol="0" anchor="t"/>
          <a:lstStyle/>
          <a:p>
            <a:pPr indent="0" marL="0">
              <a:buNone/>
            </a:pPr>
            <a:r>
              <a:rPr lang="en-US" sz="1400" dirty="0">
                <a:solidFill>
                  <a:schemeClr val="tx2"/>
                </a:solidFill>
              </a:rPr>
              <a:t>Fees are copied into each campaign when it is created and never change for that campaign. Donors can add an optional tip. Fundit runs as a static site on free hosting, so there is no infrastructure bill.</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Where Fundit stands today</a:t>
            </a:r>
            <a:endParaRPr lang="en-US" sz="2600" dirty="0"/>
          </a:p>
        </p:txBody>
      </p:sp>
      <p:sp>
        <p:nvSpPr>
          <p:cNvPr id="3" name="card-26"/>
          <p:cNvSpPr/>
          <p:nvPr/>
        </p:nvSpPr>
        <p:spPr>
          <a:xfrm>
            <a:off x="548640" y="1188720"/>
            <a:ext cx="3931920" cy="1463040"/>
          </a:xfrm>
          <a:prstGeom prst="roundRect">
            <a:avLst>
              <a:gd name="adj" fmla="val 7500"/>
            </a:avLst>
          </a:prstGeom>
          <a:solidFill>
            <a:schemeClr val="bg2"/>
          </a:solidFill>
          <a:ln w="12700">
            <a:solidFill>
              <a:schemeClr val="bg2"/>
            </a:solidFill>
            <a:prstDash val="solid"/>
          </a:ln>
        </p:spPr>
        <p:txBody>
          <a:bodyPr/>
          <a:p/>
        </p:txBody>
      </p:sp>
      <p:sp>
        <p:nvSpPr>
          <p:cNvPr id="4" name="Text 2"/>
          <p:cNvSpPr txBox="1"/>
          <p:nvPr/>
        </p:nvSpPr>
        <p:spPr>
          <a:xfrm>
            <a:off x="731520" y="1325880"/>
            <a:ext cx="3566160" cy="365760"/>
          </a:xfrm>
          <a:prstGeom prst="rect">
            <a:avLst/>
          </a:prstGeom>
          <a:noFill/>
          <a:ln/>
        </p:spPr>
        <p:txBody>
          <a:bodyPr wrap="square" lIns="0" tIns="0" rIns="0" bIns="0" rtlCol="0" anchor="t"/>
          <a:lstStyle/>
          <a:p>
            <a:pPr indent="0" marL="0">
              <a:buNone/>
            </a:pPr>
            <a:r>
              <a:rPr lang="en-US" sz="1600" b="1" dirty="0">
                <a:solidFill>
                  <a:schemeClr val="accent2"/>
                </a:solidFill>
              </a:rPr>
              <a:t>Built and tested</a:t>
            </a:r>
            <a:endParaRPr lang="en-US" sz="1600" dirty="0"/>
          </a:p>
        </p:txBody>
      </p:sp>
      <p:sp>
        <p:nvSpPr>
          <p:cNvPr id="5" name="Text 3"/>
          <p:cNvSpPr txBox="1"/>
          <p:nvPr/>
        </p:nvSpPr>
        <p:spPr>
          <a:xfrm>
            <a:off x="731520" y="1737360"/>
            <a:ext cx="3566160" cy="777240"/>
          </a:xfrm>
          <a:prstGeom prst="rect">
            <a:avLst/>
          </a:prstGeom>
          <a:noFill/>
          <a:ln/>
        </p:spPr>
        <p:txBody>
          <a:bodyPr wrap="square" lIns="0" tIns="0" rIns="0" bIns="0" rtlCol="0" anchor="t"/>
          <a:lstStyle/>
          <a:p>
            <a:pPr indent="0" marL="0">
              <a:buNone/>
            </a:pPr>
            <a:r>
              <a:rPr lang="en-US" sz="1400" dirty="0">
                <a:solidFill>
                  <a:schemeClr val="tx1"/>
                </a:solidFill>
              </a:rPr>
              <a:t>Unit, fuzz, invariant and Arc mainnet fork tests. Slither findings documented. Money tests run on Arc testnet.</a:t>
            </a:r>
            <a:endParaRPr lang="en-US" sz="1400" dirty="0"/>
          </a:p>
        </p:txBody>
      </p:sp>
      <p:sp>
        <p:nvSpPr>
          <p:cNvPr id="6" name="card-27"/>
          <p:cNvSpPr/>
          <p:nvPr/>
        </p:nvSpPr>
        <p:spPr>
          <a:xfrm>
            <a:off x="4663440" y="1188720"/>
            <a:ext cx="3931920" cy="1463040"/>
          </a:xfrm>
          <a:prstGeom prst="roundRect">
            <a:avLst>
              <a:gd name="adj" fmla="val 7500"/>
            </a:avLst>
          </a:prstGeom>
          <a:solidFill>
            <a:schemeClr val="bg2"/>
          </a:solidFill>
          <a:ln w="12700">
            <a:solidFill>
              <a:schemeClr val="bg2"/>
            </a:solidFill>
            <a:prstDash val="solid"/>
          </a:ln>
        </p:spPr>
        <p:txBody>
          <a:bodyPr/>
          <a:p/>
        </p:txBody>
      </p:sp>
      <p:sp>
        <p:nvSpPr>
          <p:cNvPr id="7" name="Text 5"/>
          <p:cNvSpPr txBox="1"/>
          <p:nvPr/>
        </p:nvSpPr>
        <p:spPr>
          <a:xfrm>
            <a:off x="4846320" y="1325880"/>
            <a:ext cx="3566160" cy="365760"/>
          </a:xfrm>
          <a:prstGeom prst="rect">
            <a:avLst/>
          </a:prstGeom>
          <a:noFill/>
          <a:ln/>
        </p:spPr>
        <p:txBody>
          <a:bodyPr wrap="square" lIns="0" tIns="0" rIns="0" bIns="0" rtlCol="0" anchor="t"/>
          <a:lstStyle/>
          <a:p>
            <a:pPr indent="0" marL="0">
              <a:buNone/>
            </a:pPr>
            <a:r>
              <a:rPr lang="en-US" sz="1600" b="1" dirty="0">
                <a:solidFill>
                  <a:schemeClr val="accent1"/>
                </a:solidFill>
              </a:rPr>
              <a:t>Live on Arc mainnet</a:t>
            </a:r>
            <a:endParaRPr lang="en-US" sz="1600" dirty="0"/>
          </a:p>
        </p:txBody>
      </p:sp>
      <p:sp>
        <p:nvSpPr>
          <p:cNvPr id="8" name="Text 6"/>
          <p:cNvSpPr txBox="1"/>
          <p:nvPr/>
        </p:nvSpPr>
        <p:spPr>
          <a:xfrm>
            <a:off x="4846320" y="1737360"/>
            <a:ext cx="3566160" cy="777240"/>
          </a:xfrm>
          <a:prstGeom prst="rect">
            <a:avLst/>
          </a:prstGeom>
          <a:noFill/>
          <a:ln/>
        </p:spPr>
        <p:txBody>
          <a:bodyPr wrap="square" lIns="0" tIns="0" rIns="0" bIns="0" rtlCol="0" anchor="t"/>
          <a:lstStyle/>
          <a:p>
            <a:pPr indent="0" marL="0">
              <a:buNone/>
            </a:pPr>
            <a:r>
              <a:rPr lang="en-US" sz="1400" dirty="0">
                <a:solidFill>
                  <a:schemeClr val="tx1"/>
                </a:solidFill>
              </a:rPr>
              <a:t>Factory 0xf1b2AEF8...17d9 and implementation 0x083CE7a6...3853, verified on Sourcify. fundit.fun is live.</a:t>
            </a:r>
            <a:endParaRPr lang="en-US" sz="1400" dirty="0"/>
          </a:p>
        </p:txBody>
      </p:sp>
      <p:sp>
        <p:nvSpPr>
          <p:cNvPr id="9" name="card-28"/>
          <p:cNvSpPr/>
          <p:nvPr/>
        </p:nvSpPr>
        <p:spPr>
          <a:xfrm>
            <a:off x="548640" y="2834640"/>
            <a:ext cx="3931920" cy="1554480"/>
          </a:xfrm>
          <a:prstGeom prst="roundRect">
            <a:avLst>
              <a:gd name="adj" fmla="val 7059"/>
            </a:avLst>
          </a:prstGeom>
          <a:solidFill>
            <a:schemeClr val="bg2"/>
          </a:solidFill>
          <a:ln w="12700">
            <a:solidFill>
              <a:schemeClr val="bg2"/>
            </a:solidFill>
            <a:prstDash val="solid"/>
          </a:ln>
        </p:spPr>
        <p:txBody>
          <a:bodyPr/>
          <a:p/>
        </p:txBody>
      </p:sp>
      <p:sp>
        <p:nvSpPr>
          <p:cNvPr id="10" name="Text 8"/>
          <p:cNvSpPr txBox="1"/>
          <p:nvPr/>
        </p:nvSpPr>
        <p:spPr>
          <a:xfrm>
            <a:off x="731520" y="2971800"/>
            <a:ext cx="3566160" cy="365760"/>
          </a:xfrm>
          <a:prstGeom prst="rect">
            <a:avLst/>
          </a:prstGeom>
          <a:noFill/>
          <a:ln/>
        </p:spPr>
        <p:txBody>
          <a:bodyPr wrap="square" lIns="0" tIns="0" rIns="0" bIns="0" rtlCol="0" anchor="t"/>
          <a:lstStyle/>
          <a:p>
            <a:pPr indent="0" marL="0">
              <a:buNone/>
            </a:pPr>
            <a:r>
              <a:rPr lang="en-US" sz="1600" b="1" dirty="0">
                <a:solidFill>
                  <a:schemeClr val="tx1"/>
                </a:solidFill>
              </a:rPr>
              <a:t>Passkey sign-in next</a:t>
            </a:r>
            <a:endParaRPr lang="en-US" sz="1600" dirty="0"/>
          </a:p>
        </p:txBody>
      </p:sp>
      <p:sp>
        <p:nvSpPr>
          <p:cNvPr id="11" name="Text 9"/>
          <p:cNvSpPr txBox="1"/>
          <p:nvPr/>
        </p:nvSpPr>
        <p:spPr>
          <a:xfrm>
            <a:off x="731520" y="3383280"/>
            <a:ext cx="3566160" cy="868680"/>
          </a:xfrm>
          <a:prstGeom prst="rect">
            <a:avLst/>
          </a:prstGeom>
          <a:noFill/>
          <a:ln/>
        </p:spPr>
        <p:txBody>
          <a:bodyPr wrap="square" lIns="0" tIns="0" rIns="0" bIns="0" rtlCol="0" anchor="t"/>
          <a:lstStyle/>
          <a:p>
            <a:pPr indent="0" marL="0">
              <a:buNone/>
            </a:pPr>
            <a:r>
              <a:rPr lang="en-US" sz="1400" dirty="0">
                <a:solidFill>
                  <a:schemeClr val="tx1"/>
                </a:solidFill>
              </a:rPr>
              <a:t>Sign-in becomes passkey only: a Fundit account on Arc. Add money from other chains stays behind a flag.</a:t>
            </a:r>
            <a:endParaRPr lang="en-US" sz="1400" dirty="0"/>
          </a:p>
        </p:txBody>
      </p:sp>
      <p:sp>
        <p:nvSpPr>
          <p:cNvPr id="12" name="card-29"/>
          <p:cNvSpPr/>
          <p:nvPr/>
        </p:nvSpPr>
        <p:spPr>
          <a:xfrm>
            <a:off x="4663440" y="2834640"/>
            <a:ext cx="3931920" cy="1554480"/>
          </a:xfrm>
          <a:prstGeom prst="roundRect">
            <a:avLst>
              <a:gd name="adj" fmla="val 7059"/>
            </a:avLst>
          </a:prstGeom>
          <a:solidFill>
            <a:schemeClr val="bg2"/>
          </a:solidFill>
          <a:ln w="12700">
            <a:solidFill>
              <a:schemeClr val="bg2"/>
            </a:solidFill>
            <a:prstDash val="solid"/>
          </a:ln>
        </p:spPr>
        <p:txBody>
          <a:bodyPr/>
          <a:p/>
        </p:txBody>
      </p:sp>
      <p:sp>
        <p:nvSpPr>
          <p:cNvPr id="13" name="Text 11"/>
          <p:cNvSpPr txBox="1"/>
          <p:nvPr/>
        </p:nvSpPr>
        <p:spPr>
          <a:xfrm>
            <a:off x="4846320" y="2971800"/>
            <a:ext cx="3566160" cy="365760"/>
          </a:xfrm>
          <a:prstGeom prst="rect">
            <a:avLst/>
          </a:prstGeom>
          <a:noFill/>
          <a:ln/>
        </p:spPr>
        <p:txBody>
          <a:bodyPr wrap="square" lIns="0" tIns="0" rIns="0" bIns="0" rtlCol="0" anchor="t"/>
          <a:lstStyle/>
          <a:p>
            <a:pPr indent="0" marL="0">
              <a:buNone/>
            </a:pPr>
            <a:r>
              <a:rPr lang="en-US" sz="1600" b="1" dirty="0">
                <a:solidFill>
                  <a:schemeClr val="tx1"/>
                </a:solidFill>
              </a:rPr>
              <a:t>EURC is Arc only</a:t>
            </a:r>
            <a:endParaRPr lang="en-US" sz="1600" dirty="0"/>
          </a:p>
        </p:txBody>
      </p:sp>
      <p:sp>
        <p:nvSpPr>
          <p:cNvPr id="14" name="Text 12"/>
          <p:cNvSpPr txBox="1"/>
          <p:nvPr/>
        </p:nvSpPr>
        <p:spPr>
          <a:xfrm>
            <a:off x="4846320" y="3383280"/>
            <a:ext cx="3566160" cy="868680"/>
          </a:xfrm>
          <a:prstGeom prst="rect">
            <a:avLst/>
          </a:prstGeom>
          <a:noFill/>
          <a:ln/>
        </p:spPr>
        <p:txBody>
          <a:bodyPr wrap="square" lIns="0" tIns="0" rIns="0" bIns="0" rtlCol="0" anchor="t"/>
          <a:lstStyle/>
          <a:p>
            <a:pPr indent="0" marL="0">
              <a:buNone/>
            </a:pPr>
            <a:r>
              <a:rPr lang="en-US" sz="1400" dirty="0">
                <a:solidFill>
                  <a:schemeClr val="tx1"/>
                </a:solidFill>
              </a:rPr>
              <a:t>On a fork, EURC CCTP burns from Arc revert with "Burn token not supported". We follow on-chain state.</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Proposed grant milestones</a:t>
            </a:r>
            <a:endParaRPr lang="en-US" sz="2600" dirty="0"/>
          </a:p>
        </p:txBody>
      </p:sp>
      <p:sp>
        <p:nvSpPr>
          <p:cNvPr id="3" name="timeline"/>
          <p:cNvSpPr/>
          <p:nvPr/>
        </p:nvSpPr>
        <p:spPr>
          <a:xfrm>
            <a:off x="777240" y="1554480"/>
            <a:ext cx="6949440" cy="0"/>
          </a:xfrm>
          <a:prstGeom prst="line">
            <a:avLst/>
          </a:prstGeom>
          <a:noFill/>
          <a:ln w="25400">
            <a:solidFill>
              <a:schemeClr val="accent4"/>
            </a:solidFill>
            <a:prstDash val="solid"/>
          </a:ln>
        </p:spPr>
        <p:txBody>
          <a:bodyPr/>
          <a:p/>
        </p:txBody>
      </p:sp>
      <p:sp>
        <p:nvSpPr>
          <p:cNvPr id="4" name="dot-30"/>
          <p:cNvSpPr/>
          <p:nvPr/>
        </p:nvSpPr>
        <p:spPr>
          <a:xfrm>
            <a:off x="548640" y="1325880"/>
            <a:ext cx="457200" cy="457200"/>
          </a:xfrm>
          <a:prstGeom prst="ellipse">
            <a:avLst/>
          </a:prstGeom>
          <a:solidFill>
            <a:schemeClr val="accent2"/>
          </a:solidFill>
          <a:ln w="12700">
            <a:solidFill>
              <a:schemeClr val="accent2"/>
            </a:solidFill>
            <a:prstDash val="solid"/>
          </a:ln>
        </p:spPr>
        <p:txBody>
          <a:bodyPr/>
          <a:p/>
        </p:txBody>
      </p:sp>
      <p:sp>
        <p:nvSpPr>
          <p:cNvPr id="5" name="Text 3"/>
          <p:cNvSpPr txBox="1"/>
          <p:nvPr/>
        </p:nvSpPr>
        <p:spPr>
          <a:xfrm>
            <a:off x="54864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6" name="Text 4"/>
          <p:cNvSpPr txBox="1"/>
          <p:nvPr/>
        </p:nvSpPr>
        <p:spPr>
          <a:xfrm>
            <a:off x="54864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M1</a:t>
            </a:r>
            <a:endParaRPr lang="en-US" sz="1200" dirty="0"/>
          </a:p>
        </p:txBody>
      </p:sp>
      <p:sp>
        <p:nvSpPr>
          <p:cNvPr id="7" name="Text 5"/>
          <p:cNvSpPr txBox="1"/>
          <p:nvPr/>
        </p:nvSpPr>
        <p:spPr>
          <a:xfrm>
            <a:off x="54864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Mainnet launch</a:t>
            </a:r>
            <a:endParaRPr lang="en-US" sz="1500" dirty="0"/>
          </a:p>
        </p:txBody>
      </p:sp>
      <p:sp>
        <p:nvSpPr>
          <p:cNvPr id="8" name="Text 6"/>
          <p:cNvSpPr txBox="1"/>
          <p:nvPr/>
        </p:nvSpPr>
        <p:spPr>
          <a:xfrm>
            <a:off x="54864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Factory and app live, passkey sign-in released</a:t>
            </a:r>
            <a:endParaRPr lang="en-US" sz="1400" dirty="0"/>
          </a:p>
        </p:txBody>
      </p:sp>
      <p:sp>
        <p:nvSpPr>
          <p:cNvPr id="9" name="dot-31"/>
          <p:cNvSpPr/>
          <p:nvPr/>
        </p:nvSpPr>
        <p:spPr>
          <a:xfrm>
            <a:off x="2194560" y="1325880"/>
            <a:ext cx="457200" cy="457200"/>
          </a:xfrm>
          <a:prstGeom prst="ellipse">
            <a:avLst/>
          </a:prstGeom>
          <a:solidFill>
            <a:schemeClr val="accent1"/>
          </a:solidFill>
          <a:ln w="12700">
            <a:solidFill>
              <a:schemeClr val="accent1"/>
            </a:solidFill>
            <a:prstDash val="solid"/>
          </a:ln>
        </p:spPr>
        <p:txBody>
          <a:bodyPr/>
          <a:p/>
        </p:txBody>
      </p:sp>
      <p:sp>
        <p:nvSpPr>
          <p:cNvPr id="10" name="Text 8"/>
          <p:cNvSpPr txBox="1"/>
          <p:nvPr/>
        </p:nvSpPr>
        <p:spPr>
          <a:xfrm>
            <a:off x="219456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11" name="Text 9"/>
          <p:cNvSpPr txBox="1"/>
          <p:nvPr/>
        </p:nvSpPr>
        <p:spPr>
          <a:xfrm>
            <a:off x="219456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M2</a:t>
            </a:r>
            <a:endParaRPr lang="en-US" sz="1200" dirty="0"/>
          </a:p>
        </p:txBody>
      </p:sp>
      <p:sp>
        <p:nvSpPr>
          <p:cNvPr id="12" name="Text 10"/>
          <p:cNvSpPr txBox="1"/>
          <p:nvPr/>
        </p:nvSpPr>
        <p:spPr>
          <a:xfrm>
            <a:off x="219456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Cross-chain</a:t>
            </a:r>
            <a:endParaRPr lang="en-US" sz="1500" dirty="0"/>
          </a:p>
        </p:txBody>
      </p:sp>
      <p:sp>
        <p:nvSpPr>
          <p:cNvPr id="13" name="Text 11"/>
          <p:cNvSpPr txBox="1"/>
          <p:nvPr/>
        </p:nvSpPr>
        <p:spPr>
          <a:xfrm>
            <a:off x="219456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Add money from other chains, after testnet checks</a:t>
            </a:r>
            <a:endParaRPr lang="en-US" sz="1400" dirty="0"/>
          </a:p>
        </p:txBody>
      </p:sp>
      <p:sp>
        <p:nvSpPr>
          <p:cNvPr id="14" name="dot-32"/>
          <p:cNvSpPr/>
          <p:nvPr/>
        </p:nvSpPr>
        <p:spPr>
          <a:xfrm>
            <a:off x="3840480" y="1325880"/>
            <a:ext cx="457200" cy="457200"/>
          </a:xfrm>
          <a:prstGeom prst="ellipse">
            <a:avLst/>
          </a:prstGeom>
          <a:solidFill>
            <a:schemeClr val="accent1"/>
          </a:solidFill>
          <a:ln w="12700">
            <a:solidFill>
              <a:schemeClr val="accent1"/>
            </a:solidFill>
            <a:prstDash val="solid"/>
          </a:ln>
        </p:spPr>
        <p:txBody>
          <a:bodyPr/>
          <a:p/>
        </p:txBody>
      </p:sp>
      <p:sp>
        <p:nvSpPr>
          <p:cNvPr id="15" name="Text 13"/>
          <p:cNvSpPr txBox="1"/>
          <p:nvPr/>
        </p:nvSpPr>
        <p:spPr>
          <a:xfrm>
            <a:off x="384048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16" name="Text 14"/>
          <p:cNvSpPr txBox="1"/>
          <p:nvPr/>
        </p:nvSpPr>
        <p:spPr>
          <a:xfrm>
            <a:off x="384048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M3</a:t>
            </a:r>
            <a:endParaRPr lang="en-US" sz="1200" dirty="0"/>
          </a:p>
        </p:txBody>
      </p:sp>
      <p:sp>
        <p:nvSpPr>
          <p:cNvPr id="17" name="Text 15"/>
          <p:cNvSpPr txBox="1"/>
          <p:nvPr/>
        </p:nvSpPr>
        <p:spPr>
          <a:xfrm>
            <a:off x="384048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Audit</a:t>
            </a:r>
            <a:endParaRPr lang="en-US" sz="1500" dirty="0"/>
          </a:p>
        </p:txBody>
      </p:sp>
      <p:sp>
        <p:nvSpPr>
          <p:cNvPr id="18" name="Text 16"/>
          <p:cNvSpPr txBox="1"/>
          <p:nvPr/>
        </p:nvSpPr>
        <p:spPr>
          <a:xfrm>
            <a:off x="384048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Third-party review of both contracts</a:t>
            </a:r>
            <a:endParaRPr lang="en-US" sz="1400" dirty="0"/>
          </a:p>
        </p:txBody>
      </p:sp>
      <p:sp>
        <p:nvSpPr>
          <p:cNvPr id="19" name="dot-33"/>
          <p:cNvSpPr/>
          <p:nvPr/>
        </p:nvSpPr>
        <p:spPr>
          <a:xfrm>
            <a:off x="5486400" y="1325880"/>
            <a:ext cx="457200" cy="457200"/>
          </a:xfrm>
          <a:prstGeom prst="ellipse">
            <a:avLst/>
          </a:prstGeom>
          <a:solidFill>
            <a:schemeClr val="accent1"/>
          </a:solidFill>
          <a:ln w="12700">
            <a:solidFill>
              <a:schemeClr val="accent1"/>
            </a:solidFill>
            <a:prstDash val="solid"/>
          </a:ln>
        </p:spPr>
        <p:txBody>
          <a:bodyPr/>
          <a:p/>
        </p:txBody>
      </p:sp>
      <p:sp>
        <p:nvSpPr>
          <p:cNvPr id="20" name="Text 18"/>
          <p:cNvSpPr txBox="1"/>
          <p:nvPr/>
        </p:nvSpPr>
        <p:spPr>
          <a:xfrm>
            <a:off x="548640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21" name="Text 19"/>
          <p:cNvSpPr txBox="1"/>
          <p:nvPr/>
        </p:nvSpPr>
        <p:spPr>
          <a:xfrm>
            <a:off x="548640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M4</a:t>
            </a:r>
            <a:endParaRPr lang="en-US" sz="1200" dirty="0"/>
          </a:p>
        </p:txBody>
      </p:sp>
      <p:sp>
        <p:nvSpPr>
          <p:cNvPr id="22" name="Text 20"/>
          <p:cNvSpPr txBox="1"/>
          <p:nvPr/>
        </p:nvSpPr>
        <p:spPr>
          <a:xfrm>
            <a:off x="548640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Adoption</a:t>
            </a:r>
            <a:endParaRPr lang="en-US" sz="1500" dirty="0"/>
          </a:p>
        </p:txBody>
      </p:sp>
      <p:sp>
        <p:nvSpPr>
          <p:cNvPr id="23" name="Text 21"/>
          <p:cNvSpPr txBox="1"/>
          <p:nvPr/>
        </p:nvSpPr>
        <p:spPr>
          <a:xfrm>
            <a:off x="548640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[placeholder] campaigns, [placeholder] USDC</a:t>
            </a:r>
            <a:endParaRPr lang="en-US" sz="1400" dirty="0"/>
          </a:p>
        </p:txBody>
      </p:sp>
      <p:sp>
        <p:nvSpPr>
          <p:cNvPr id="24" name="dot-34"/>
          <p:cNvSpPr/>
          <p:nvPr/>
        </p:nvSpPr>
        <p:spPr>
          <a:xfrm>
            <a:off x="7132320" y="1325880"/>
            <a:ext cx="457200" cy="457200"/>
          </a:xfrm>
          <a:prstGeom prst="ellipse">
            <a:avLst/>
          </a:prstGeom>
          <a:solidFill>
            <a:schemeClr val="accent1"/>
          </a:solidFill>
          <a:ln w="12700">
            <a:solidFill>
              <a:schemeClr val="accent1"/>
            </a:solidFill>
            <a:prstDash val="solid"/>
          </a:ln>
        </p:spPr>
        <p:txBody>
          <a:bodyPr/>
          <a:p/>
        </p:txBody>
      </p:sp>
      <p:sp>
        <p:nvSpPr>
          <p:cNvPr id="25" name="Text 23"/>
          <p:cNvSpPr txBox="1"/>
          <p:nvPr/>
        </p:nvSpPr>
        <p:spPr>
          <a:xfrm>
            <a:off x="713232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26" name="Text 24"/>
          <p:cNvSpPr txBox="1"/>
          <p:nvPr/>
        </p:nvSpPr>
        <p:spPr>
          <a:xfrm>
            <a:off x="713232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M5</a:t>
            </a:r>
            <a:endParaRPr lang="en-US" sz="1200" dirty="0"/>
          </a:p>
        </p:txBody>
      </p:sp>
      <p:sp>
        <p:nvSpPr>
          <p:cNvPr id="27" name="Text 25"/>
          <p:cNvSpPr txBox="1"/>
          <p:nvPr/>
        </p:nvSpPr>
        <p:spPr>
          <a:xfrm>
            <a:off x="713232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Card donations</a:t>
            </a:r>
            <a:endParaRPr lang="en-US" sz="1500" dirty="0"/>
          </a:p>
        </p:txBody>
      </p:sp>
      <p:sp>
        <p:nvSpPr>
          <p:cNvPr id="28" name="Text 26"/>
          <p:cNvSpPr txBox="1"/>
          <p:nvPr/>
        </p:nvSpPr>
        <p:spPr>
          <a:xfrm>
            <a:off x="713232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Onramp Kit into campaigns</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The ask</a:t>
            </a: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A Circle Developer Grant with milestone-based USDC payments, to release passkey sign-in, add money from other chains and fund a third-party audit.</a:t>
            </a:r>
            <a:endParaRPr lang="en-US" sz="1800" dirty="0"/>
          </a:p>
        </p:txBody>
      </p:sp>
    </p:spTree>
  </p:cSld>
  <p:clrMapOvr>
    <a:masterClrMapping/>
  </p:clrMapOvr>
</p:sld>
</file>

<file path=ppt/theme/theme1.xml><?xml version="1.0" encoding="utf-8"?>
<a:theme xmlns:a="http://schemas.openxmlformats.org/drawingml/2006/main" name="Fundit">
  <a:themeElements>
    <a:clrScheme name="Fundit">
      <a:dk1>
        <a:srgbClr val="101928"/>
      </a:dk1>
      <a:lt1>
        <a:srgbClr val="FFFFFF"/>
      </a:lt1>
      <a:dk2>
        <a:srgbClr val="586283"/>
      </a:dk2>
      <a:lt2>
        <a:srgbClr val="ECEFF1"/>
      </a:lt2>
      <a:accent1>
        <a:srgbClr val="FF7C0A"/>
      </a:accent1>
      <a:accent2>
        <a:srgbClr val="19B820"/>
      </a:accent2>
      <a:accent3>
        <a:srgbClr val="586283"/>
      </a:accent3>
      <a:accent4>
        <a:srgbClr val="D5DADE"/>
      </a:accent4>
      <a:accent5>
        <a:srgbClr val="172131"/>
      </a:accent5>
      <a:accent6>
        <a:srgbClr val="A3ABC4"/>
      </a:accent6>
      <a:hlink>
        <a:srgbClr val="586283"/>
      </a:hlink>
      <a:folHlink>
        <a:srgbClr val="586283"/>
      </a:folHlink>
    </a:clrScheme>
    <a:fontScheme name="Fundi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Fundit V2 pitch deck</dc:title>
  <dc:subject>PptxGenJS Presentation</dc:subject>
  <dc:creator>Fundit</dc:creator>
  <cp:lastModifiedBy>Fundit</cp:lastModifiedBy>
  <cp:revision>1</cp:revision>
  <dcterms:created xsi:type="dcterms:W3CDTF">2026-10-17T12:01:04Z</dcterms:created>
  <dcterms:modified xsi:type="dcterms:W3CDTF">2026-10-17T12:01:05Z</dcterms:modified>
</cp:coreProperties>
</file>