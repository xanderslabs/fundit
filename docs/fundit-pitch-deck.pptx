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3d28ed98-ada3-41b0-69dd-f3229842d395}">
          <p14:sldIdLst>
            <p14:sldId id="256"/>
          </p14:sldIdLst>
        </p14:section>
        <p14:section name="Problem" id="{6476666b-dfdd-c942-26e1-9b4b7059b755}">
          <p14:sldIdLst>
            <p14:sldId id="257"/>
          </p14:sldIdLst>
        </p14:section>
        <p14:section name="Product" id="{bc447e81-5a60-04e6-3256-6b35f663897f}">
          <p14:sldIdLst>
            <p14:sldId id="258"/>
            <p14:sldId id="259"/>
          </p14:sldIdLst>
        </p14:section>
        <p14:section name="Circle stack" id="{3db6e131-e78e-44eb-6148-bc4160a774b4}">
          <p14:sldIdLst>
            <p14:sldId id="260"/>
          </p14:sldIdLst>
        </p14:section>
        <p14:section name="Trust" id="{2c0da678-c2a4-9eda-8c2a-2d1014b4788f}">
          <p14:sldIdLst>
            <p14:sldId id="261"/>
            <p14:sldId id="262"/>
          </p14:sldIdLst>
        </p14:section>
        <p14:section name="Status" id="{0a56c3f2-93f5-af5f-721e-a33366776f01}">
          <p14:sldIdLst>
            <p14:sldId id="263"/>
          </p14:sldIdLst>
        </p14:section>
        <p14:section name="Ask" id="{64e97773-bafb-e6d6-4778-acdde0f69750}">
          <p14:sldIdLst>
            <p14:sldId id="264"/>
            <p14:sldId id="26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0:00. Open with the problem: platforms hold donor money first. Fundit gives every fundraiser its own escrow contract on Arc.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0:00 to 0:30. The three costs of custodial fundraising.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0:30 to 1:45. Demo path: create a campaign, donate 1 USDC with a tip and message, show the activity list and explorer link, then withdraw to Base.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the money: three donor paths in, one escrow, payouts out. The owner has no path to the funds.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1:45 to 2:30. Four products are on at launch. Three more are built and fork-tested, and turn on only after the live canary proves them.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2:30 to 3:15. Enforced in immutable code. Fees are pulled, so a broken treasury never blocks a donation or withdrawal. No backend, no database, no server with keys.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Business model: donation fee, withdrawal fee and optional tips, all visible on chain before the donor signs.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3:15 to 3:45. Pre-launch. No traction numbers yet. Every number we report later comes from on-chain data.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Milestone-based USDC payments. Bracketed targets are placeholders to agree with the program.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3:45 to 4:15. State the ask, then take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828800"/>
            <a:ext cx="804672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6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indent="0" marL="0">
              <a:buNone/>
            </a:pP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017520"/>
            <a:ext cx="804672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chemeClr val="accent6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  <p:pic>
        <p:nvPicPr>
          <p:cNvPr id="4" name="Image 0" descr="/private/tmp/claude-501/-Users-kamsispc-kamwsp-fundit/1962da12-be15-40e7-9409-7c27ba608f83/scratchpad/build/fundit-logo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48640"/>
            <a:ext cx="1589992" cy="36576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804672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6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indent="0" marL="0">
              <a:buNone/>
            </a:pPr>
            <a:endParaRPr lang="en-US" sz="2600" dirty="0"/>
          </a:p>
        </p:txBody>
      </p:sp>
      <p:pic>
        <p:nvPicPr>
          <p:cNvPr id="3" name="Image 0" descr="/private/tmp/claude-501/-Users-kamsispc-kamwsp-fundit/1962da12-be15-40e7-9409-7c27ba608f83/scratchpad/build/fundit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709160"/>
            <a:ext cx="874496" cy="201168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2926080" y="4681728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Draft for Circle Developer Grants, October 2026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68172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68172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828800"/>
            <a:ext cx="8046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Crowdfunding escrow on Arc</a:t>
            </a: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017520"/>
            <a:ext cx="80467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accent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fundraiser is its own USDC or EURC escrow contract. Only the creator can withdraw, and anyone can audit every dollar.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Platforms hold the money first</a:t>
            </a:r>
            <a:endParaRPr lang="en-US" sz="2600" dirty="0"/>
          </a:p>
        </p:txBody>
      </p:sp>
      <p:sp>
        <p:nvSpPr>
          <p:cNvPr id="3" name="card-1"/>
          <p:cNvSpPr/>
          <p:nvPr/>
        </p:nvSpPr>
        <p:spPr>
          <a:xfrm>
            <a:off x="548640" y="1280160"/>
            <a:ext cx="2514600" cy="3017520"/>
          </a:xfrm>
          <a:prstGeom prst="roundRect">
            <a:avLst>
              <a:gd name="adj" fmla="val 436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41732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Custody risk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1828800"/>
            <a:ext cx="214884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The platform can freeze, delay or lose funds. Donors cannot see where their money is.</a:t>
            </a:r>
            <a:endParaRPr lang="en-US" sz="1400" dirty="0"/>
          </a:p>
        </p:txBody>
      </p:sp>
      <p:sp>
        <p:nvSpPr>
          <p:cNvPr id="6" name="card-2"/>
          <p:cNvSpPr/>
          <p:nvPr/>
        </p:nvSpPr>
        <p:spPr>
          <a:xfrm>
            <a:off x="3314700" y="1280160"/>
            <a:ext cx="2514600" cy="3017520"/>
          </a:xfrm>
          <a:prstGeom prst="roundRect">
            <a:avLst>
              <a:gd name="adj" fmla="val 436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497580" y="141732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Slow, local payouts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3497580" y="1828800"/>
            <a:ext cx="214884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Creators wait days for a bank transfer. Cross-border payouts cost more and take longer.</a:t>
            </a:r>
            <a:endParaRPr lang="en-US" sz="1400" dirty="0"/>
          </a:p>
        </p:txBody>
      </p:sp>
      <p:sp>
        <p:nvSpPr>
          <p:cNvPr id="9" name="card-3"/>
          <p:cNvSpPr/>
          <p:nvPr/>
        </p:nvSpPr>
        <p:spPr>
          <a:xfrm>
            <a:off x="6080760" y="1280160"/>
            <a:ext cx="2514600" cy="3017520"/>
          </a:xfrm>
          <a:prstGeom prst="roundRect">
            <a:avLst>
              <a:gd name="adj" fmla="val 436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263640" y="141732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Opaque books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6263640" y="1828800"/>
            <a:ext cx="214884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Donors see a total on a web page. Nobody outside the platform can audit inflows and outflows.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68172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Fundit works</a:t>
            </a:r>
            <a:endParaRPr lang="en-US" sz="2600" dirty="0"/>
          </a:p>
        </p:txBody>
      </p:sp>
      <p:sp>
        <p:nvSpPr>
          <p:cNvPr id="3" name="dot-4"/>
          <p:cNvSpPr/>
          <p:nvPr/>
        </p:nvSpPr>
        <p:spPr>
          <a:xfrm>
            <a:off x="548640" y="132588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325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92024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Create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331720"/>
            <a:ext cx="18288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Pick USDC or EURC and a goal. The factory deploys a new escrow and copies the fees into it.</a:t>
            </a:r>
            <a:endParaRPr lang="en-US" sz="1400" dirty="0"/>
          </a:p>
        </p:txBody>
      </p:sp>
      <p:sp>
        <p:nvSpPr>
          <p:cNvPr id="7" name="dot-5"/>
          <p:cNvSpPr/>
          <p:nvPr/>
        </p:nvSpPr>
        <p:spPr>
          <a:xfrm>
            <a:off x="2606040" y="132588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606040" y="1325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2606040" y="192024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Donate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2606040" y="2331720"/>
            <a:ext cx="18288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Approve, then donate on Arc. Arc Memo tags the donation and keeps the donor as sender.</a:t>
            </a:r>
            <a:endParaRPr lang="en-US" sz="1400" dirty="0"/>
          </a:p>
        </p:txBody>
      </p:sp>
      <p:sp>
        <p:nvSpPr>
          <p:cNvPr id="11" name="dot-6"/>
          <p:cNvSpPr/>
          <p:nvPr/>
        </p:nvSpPr>
        <p:spPr>
          <a:xfrm>
            <a:off x="4663440" y="132588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663440" y="1325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4663440" y="192024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Settle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4663440" y="2331720"/>
            <a:ext cx="18288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USDC minted in from other chains is booked by settle() and pays the same fee.</a:t>
            </a:r>
            <a:endParaRPr lang="en-US" sz="1400" dirty="0"/>
          </a:p>
        </p:txBody>
      </p:sp>
      <p:sp>
        <p:nvSpPr>
          <p:cNvPr id="15" name="dot-7"/>
          <p:cNvSpPr/>
          <p:nvPr/>
        </p:nvSpPr>
        <p:spPr>
          <a:xfrm>
            <a:off x="6720840" y="1325880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720840" y="1325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6720840" y="192024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Withdraw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6720840" y="2331720"/>
            <a:ext cx="18288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The creator takes funds on Arc, or gets USDC on six other chains through CCTP V2.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68172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escrow contract per fundraiser</a:t>
            </a:r>
            <a:endParaRPr lang="en-US" sz="2600" dirty="0"/>
          </a:p>
        </p:txBody>
      </p:sp>
      <p:sp>
        <p:nvSpPr>
          <p:cNvPr id="3" name="node-8"/>
          <p:cNvSpPr/>
          <p:nvPr/>
        </p:nvSpPr>
        <p:spPr>
          <a:xfrm>
            <a:off x="548640" y="1188720"/>
            <a:ext cx="2286000" cy="731520"/>
          </a:xfrm>
          <a:prstGeom prst="roundRect">
            <a:avLst>
              <a:gd name="adj" fmla="val 12500"/>
            </a:avLst>
          </a:prstGeom>
          <a:solidFill>
            <a:schemeClr val="bg2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58368" y="1188720"/>
            <a:ext cx="206654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Donor on Arc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Memo.memo, then donate()</a:t>
            </a:r>
            <a:endParaRPr lang="en-US" sz="1400" dirty="0"/>
          </a:p>
        </p:txBody>
      </p:sp>
      <p:sp>
        <p:nvSpPr>
          <p:cNvPr id="5" name="node-9"/>
          <p:cNvSpPr/>
          <p:nvPr/>
        </p:nvSpPr>
        <p:spPr>
          <a:xfrm>
            <a:off x="548640" y="2103120"/>
            <a:ext cx="2286000" cy="731520"/>
          </a:xfrm>
          <a:prstGeom prst="roundRect">
            <a:avLst>
              <a:gd name="adj" fmla="val 12500"/>
            </a:avLst>
          </a:prstGeom>
          <a:solidFill>
            <a:schemeClr val="bg2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58368" y="2103120"/>
            <a:ext cx="206654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Donor on another chain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Bridge Kit, CCTP V2 burn</a:t>
            </a:r>
            <a:endParaRPr lang="en-US" sz="1400" dirty="0"/>
          </a:p>
        </p:txBody>
      </p:sp>
      <p:sp>
        <p:nvSpPr>
          <p:cNvPr id="7" name="node-10"/>
          <p:cNvSpPr/>
          <p:nvPr/>
        </p:nvSpPr>
        <p:spPr>
          <a:xfrm>
            <a:off x="548640" y="3017520"/>
            <a:ext cx="2286000" cy="731520"/>
          </a:xfrm>
          <a:prstGeom prst="roundRect">
            <a:avLst>
              <a:gd name="adj" fmla="val 12500"/>
            </a:avLst>
          </a:prstGeom>
          <a:solidFill>
            <a:schemeClr val="bg2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58368" y="3017520"/>
            <a:ext cx="206654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Donor with Gateway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Unified Balance Kit spend</a:t>
            </a:r>
            <a:endParaRPr lang="en-US" sz="1400" dirty="0"/>
          </a:p>
        </p:txBody>
      </p:sp>
      <p:sp>
        <p:nvSpPr>
          <p:cNvPr id="9" name="node-11"/>
          <p:cNvSpPr/>
          <p:nvPr/>
        </p:nvSpPr>
        <p:spPr>
          <a:xfrm>
            <a:off x="3429000" y="1737360"/>
            <a:ext cx="2286000" cy="1463040"/>
          </a:xfrm>
          <a:prstGeom prst="roundRect">
            <a:avLst>
              <a:gd name="adj" fmla="val 6250"/>
            </a:avLst>
          </a:prstGeom>
          <a:solidFill>
            <a:schemeClr val="bg1"/>
          </a:solidFill>
          <a:ln w="31750">
            <a:solidFill>
              <a:schemeClr val="accent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538728" y="1737360"/>
            <a:ext cx="20665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Campaign escrow on Arc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EIP-1167 clone. Holds USDC or EURC. Owner cannot move funds.</a:t>
            </a:r>
            <a:endParaRPr lang="en-US" sz="1400" dirty="0"/>
          </a:p>
        </p:txBody>
      </p:sp>
      <p:sp>
        <p:nvSpPr>
          <p:cNvPr id="11" name="node-12"/>
          <p:cNvSpPr/>
          <p:nvPr/>
        </p:nvSpPr>
        <p:spPr>
          <a:xfrm>
            <a:off x="3429000" y="3566160"/>
            <a:ext cx="2286000" cy="731520"/>
          </a:xfrm>
          <a:prstGeom prst="roundRect">
            <a:avLst>
              <a:gd name="adj" fmla="val 12500"/>
            </a:avLst>
          </a:prstGeom>
          <a:solidFill>
            <a:schemeClr val="bg2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538728" y="3566160"/>
            <a:ext cx="206654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CampaignFactory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Fees copied once, capped at 5%</a:t>
            </a:r>
            <a:endParaRPr lang="en-US" sz="1400" dirty="0"/>
          </a:p>
        </p:txBody>
      </p:sp>
      <p:sp>
        <p:nvSpPr>
          <p:cNvPr id="13" name="node-13"/>
          <p:cNvSpPr/>
          <p:nvPr/>
        </p:nvSpPr>
        <p:spPr>
          <a:xfrm>
            <a:off x="6309360" y="1188720"/>
            <a:ext cx="2286000" cy="731520"/>
          </a:xfrm>
          <a:prstGeom prst="roundRect">
            <a:avLst>
              <a:gd name="adj" fmla="val 12500"/>
            </a:avLst>
          </a:prstGeom>
          <a:solidFill>
            <a:schemeClr val="bg2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419088" y="1188720"/>
            <a:ext cx="206654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Creator on Arc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withdraw(), ERC-20 transfer</a:t>
            </a:r>
            <a:endParaRPr lang="en-US" sz="1400" dirty="0"/>
          </a:p>
        </p:txBody>
      </p:sp>
      <p:sp>
        <p:nvSpPr>
          <p:cNvPr id="15" name="node-14"/>
          <p:cNvSpPr/>
          <p:nvPr/>
        </p:nvSpPr>
        <p:spPr>
          <a:xfrm>
            <a:off x="6309360" y="2103120"/>
            <a:ext cx="2286000" cy="731520"/>
          </a:xfrm>
          <a:prstGeom prst="roundRect">
            <a:avLst>
              <a:gd name="adj" fmla="val 12500"/>
            </a:avLst>
          </a:prstGeom>
          <a:solidFill>
            <a:schemeClr val="bg2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19088" y="2103120"/>
            <a:ext cx="206654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Creator on another chain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CCTP V2 with forwarding</a:t>
            </a:r>
            <a:endParaRPr lang="en-US" sz="1400" dirty="0"/>
          </a:p>
        </p:txBody>
      </p:sp>
      <p:sp>
        <p:nvSpPr>
          <p:cNvPr id="17" name="node-15"/>
          <p:cNvSpPr/>
          <p:nvPr/>
        </p:nvSpPr>
        <p:spPr>
          <a:xfrm>
            <a:off x="6309360" y="3017520"/>
            <a:ext cx="2286000" cy="731520"/>
          </a:xfrm>
          <a:prstGeom prst="roundRect">
            <a:avLst>
              <a:gd name="adj" fmla="val 12500"/>
            </a:avLst>
          </a:prstGeom>
          <a:solidFill>
            <a:schemeClr val="bg2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419088" y="3017520"/>
            <a:ext cx="206654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Treasury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claimFees(), anyone can call</a:t>
            </a:r>
            <a:endParaRPr lang="en-US" sz="1400" dirty="0"/>
          </a:p>
        </p:txBody>
      </p:sp>
      <p:sp>
        <p:nvSpPr>
          <p:cNvPr id="19" name="edge-16"/>
          <p:cNvSpPr/>
          <p:nvPr/>
        </p:nvSpPr>
        <p:spPr>
          <a:xfrm>
            <a:off x="2834640" y="1554480"/>
            <a:ext cx="594360" cy="457200"/>
          </a:xfrm>
          <a:prstGeom prst="line">
            <a:avLst/>
          </a:prstGeom>
          <a:noFill/>
          <a:ln w="2222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20" name="edge-17"/>
          <p:cNvSpPr/>
          <p:nvPr/>
        </p:nvSpPr>
        <p:spPr>
          <a:xfrm>
            <a:off x="2834640" y="2468880"/>
            <a:ext cx="594360" cy="0"/>
          </a:xfrm>
          <a:prstGeom prst="line">
            <a:avLst/>
          </a:prstGeom>
          <a:noFill/>
          <a:ln w="22225">
            <a:solidFill>
              <a:schemeClr val="accent1"/>
            </a:solidFill>
            <a:prstDash val="dash"/>
            <a:tailEnd type="triangle"/>
          </a:ln>
        </p:spPr>
      </p:sp>
      <p:sp>
        <p:nvSpPr>
          <p:cNvPr id="21" name="edge-18"/>
          <p:cNvSpPr/>
          <p:nvPr/>
        </p:nvSpPr>
        <p:spPr>
          <a:xfrm flipV="1">
            <a:off x="2834640" y="2926080"/>
            <a:ext cx="594360" cy="457200"/>
          </a:xfrm>
          <a:prstGeom prst="line">
            <a:avLst/>
          </a:prstGeom>
          <a:noFill/>
          <a:ln w="22225">
            <a:solidFill>
              <a:schemeClr val="accent1"/>
            </a:solidFill>
            <a:prstDash val="dash"/>
            <a:tailEnd type="triangle"/>
          </a:ln>
        </p:spPr>
      </p:sp>
      <p:sp>
        <p:nvSpPr>
          <p:cNvPr id="22" name="edge-19"/>
          <p:cNvSpPr/>
          <p:nvPr/>
        </p:nvSpPr>
        <p:spPr>
          <a:xfrm flipV="1">
            <a:off x="4572000" y="3200400"/>
            <a:ext cx="0" cy="365760"/>
          </a:xfrm>
          <a:prstGeom prst="line">
            <a:avLst/>
          </a:prstGeom>
          <a:noFill/>
          <a:ln w="2222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23" name="edge-20"/>
          <p:cNvSpPr/>
          <p:nvPr/>
        </p:nvSpPr>
        <p:spPr>
          <a:xfrm flipV="1">
            <a:off x="5715000" y="1554480"/>
            <a:ext cx="594360" cy="457200"/>
          </a:xfrm>
          <a:prstGeom prst="line">
            <a:avLst/>
          </a:prstGeom>
          <a:noFill/>
          <a:ln w="2222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24" name="edge-21"/>
          <p:cNvSpPr/>
          <p:nvPr/>
        </p:nvSpPr>
        <p:spPr>
          <a:xfrm>
            <a:off x="5715000" y="2468880"/>
            <a:ext cx="594360" cy="0"/>
          </a:xfrm>
          <a:prstGeom prst="line">
            <a:avLst/>
          </a:prstGeom>
          <a:noFill/>
          <a:ln w="2222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25" name="edge-22"/>
          <p:cNvSpPr/>
          <p:nvPr/>
        </p:nvSpPr>
        <p:spPr>
          <a:xfrm>
            <a:off x="5715000" y="2926080"/>
            <a:ext cx="594360" cy="457200"/>
          </a:xfrm>
          <a:prstGeom prst="line">
            <a:avLst/>
          </a:prstGeom>
          <a:noFill/>
          <a:ln w="2222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26" name="Text 24"/>
          <p:cNvSpPr txBox="1"/>
          <p:nvPr/>
        </p:nvSpPr>
        <p:spPr>
          <a:xfrm>
            <a:off x="548640" y="402336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Dashed: behind the VITE_CROSSCHAIN flag until the live canary passes.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68172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Built on Circle from the contract up</a:t>
            </a:r>
            <a:endParaRPr lang="en-US" sz="26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43000"/>
          <a:ext cx="804672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3474720"/>
                <a:gridCol w="182880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Product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D5DA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Use in Fundit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D5DA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Status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D5DA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Arc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D5DA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Home chain. Gas is paid in USDC.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D5DA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 at launch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D5DA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USDC and EURC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D5DA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two campaign tokens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D5DA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 at launch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D5DA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Arc Memo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D5DA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Tags each on-Arc donation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D5DA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 at launch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D5DA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CCTP V2 and Forwarding Service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D5DA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Creator payouts to six chains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D5DA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 at launch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D5DA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Bridge Kit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D5DA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Donations from other chains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D5DA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Behind a flag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D5DA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Gateway and Unified Balance Kit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D5DA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Donations from a unified balance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D5DA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Behind a flag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D5DA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Modular Wallets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D5DA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Passkey accounts for new users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D5DA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Behind a flag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D5DA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68172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owner never touches the funds</a:t>
            </a:r>
            <a:endParaRPr lang="en-US" sz="2600" dirty="0"/>
          </a:p>
        </p:txBody>
      </p:sp>
      <p:sp>
        <p:nvSpPr>
          <p:cNvPr id="3" name="card-23"/>
          <p:cNvSpPr/>
          <p:nvPr/>
        </p:nvSpPr>
        <p:spPr>
          <a:xfrm>
            <a:off x="548640" y="1188720"/>
            <a:ext cx="2514600" cy="3200400"/>
          </a:xfrm>
          <a:prstGeom prst="roundRect">
            <a:avLst>
              <a:gd name="adj" fmla="val 436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32588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The owner can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1737360"/>
            <a:ext cx="214884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Set fees for new campaigns, each at most 5%. Rotate the treasury. Feature a campaign. Pause new campaigns.</a:t>
            </a:r>
            <a:endParaRPr lang="en-US" sz="1400" dirty="0"/>
          </a:p>
        </p:txBody>
      </p:sp>
      <p:sp>
        <p:nvSpPr>
          <p:cNvPr id="6" name="card-24"/>
          <p:cNvSpPr/>
          <p:nvPr/>
        </p:nvSpPr>
        <p:spPr>
          <a:xfrm>
            <a:off x="3314700" y="1188720"/>
            <a:ext cx="2514600" cy="3200400"/>
          </a:xfrm>
          <a:prstGeom prst="roundRect">
            <a:avLst>
              <a:gd name="adj" fmla="val 436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497580" y="132588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The owner can never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3497580" y="1737360"/>
            <a:ext cx="214884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Move, freeze or redirect funds. Pause donations or withdrawals. Change an existing campaign. Upgrade a contract.</a:t>
            </a:r>
            <a:endParaRPr lang="en-US" sz="1400" dirty="0"/>
          </a:p>
        </p:txBody>
      </p:sp>
      <p:sp>
        <p:nvSpPr>
          <p:cNvPr id="9" name="card-25"/>
          <p:cNvSpPr/>
          <p:nvPr/>
        </p:nvSpPr>
        <p:spPr>
          <a:xfrm>
            <a:off x="6080760" y="1188720"/>
            <a:ext cx="2514600" cy="3200400"/>
          </a:xfrm>
          <a:prstGeom prst="roundRect">
            <a:avLst>
              <a:gd name="adj" fmla="val 436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263640" y="132588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Creator recovery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6263640" y="1737360"/>
            <a:ext cx="214884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An optional backup can take over after a 7-day wait. The creator keeps every power and can cancel at any time.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68172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Simple, visible, fixed fees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80160"/>
            <a:ext cx="2514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1%</a:t>
            </a:r>
            <a:endParaRPr lang="en-US" sz="6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423160"/>
            <a:ext cx="2514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Donation fee at launch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3314700" y="1280160"/>
            <a:ext cx="2514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1%</a:t>
            </a:r>
            <a:endParaRPr lang="en-US" sz="6000" dirty="0"/>
          </a:p>
        </p:txBody>
      </p:sp>
      <p:sp>
        <p:nvSpPr>
          <p:cNvPr id="6" name="Text 4"/>
          <p:cNvSpPr txBox="1"/>
          <p:nvPr/>
        </p:nvSpPr>
        <p:spPr>
          <a:xfrm>
            <a:off x="3314700" y="2423160"/>
            <a:ext cx="2514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Withdrawal fee at launch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080760" y="1280160"/>
            <a:ext cx="2514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5%</a:t>
            </a:r>
            <a:endParaRPr lang="en-US" sz="6000" dirty="0"/>
          </a:p>
        </p:txBody>
      </p:sp>
      <p:sp>
        <p:nvSpPr>
          <p:cNvPr id="8" name="Text 6"/>
          <p:cNvSpPr txBox="1"/>
          <p:nvPr/>
        </p:nvSpPr>
        <p:spPr>
          <a:xfrm>
            <a:off x="6080760" y="2423160"/>
            <a:ext cx="2514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Hard cap on each fee, in code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38328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Fees are copied into each campaign when it is created and never change for that campaign. Donors can add an optional tip. Fundit runs on a static site and free hosting, so there is no infrastructure bill.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68172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Fundit stands today</a:t>
            </a:r>
            <a:endParaRPr lang="en-US" sz="2600" dirty="0"/>
          </a:p>
        </p:txBody>
      </p:sp>
      <p:sp>
        <p:nvSpPr>
          <p:cNvPr id="3" name="card-26"/>
          <p:cNvSpPr/>
          <p:nvPr/>
        </p:nvSpPr>
        <p:spPr>
          <a:xfrm>
            <a:off x="548640" y="1188720"/>
            <a:ext cx="3931920" cy="1463040"/>
          </a:xfrm>
          <a:prstGeom prst="roundRect">
            <a:avLst>
              <a:gd name="adj" fmla="val 75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32588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Built and tested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1737360"/>
            <a:ext cx="3566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Unit, fuzz, invariant and Arc mainnet fork tests. Slither findings documented. Playwright e2e on a fork.</a:t>
            </a:r>
            <a:endParaRPr lang="en-US" sz="1400" dirty="0"/>
          </a:p>
        </p:txBody>
      </p:sp>
      <p:sp>
        <p:nvSpPr>
          <p:cNvPr id="6" name="card-27"/>
          <p:cNvSpPr/>
          <p:nvPr/>
        </p:nvSpPr>
        <p:spPr>
          <a:xfrm>
            <a:off x="4663440" y="1188720"/>
            <a:ext cx="3931920" cy="1463040"/>
          </a:xfrm>
          <a:prstGeom prst="roundRect">
            <a:avLst>
              <a:gd name="adj" fmla="val 75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846320" y="132588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Not deployed yet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4846320" y="1737360"/>
            <a:ext cx="3566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Contracts and app deploy next, then a canary of about 5 USDC on mainnet.</a:t>
            </a:r>
            <a:endParaRPr lang="en-US" sz="1400" dirty="0"/>
          </a:p>
        </p:txBody>
      </p:sp>
      <p:sp>
        <p:nvSpPr>
          <p:cNvPr id="9" name="card-28"/>
          <p:cNvSpPr/>
          <p:nvPr/>
        </p:nvSpPr>
        <p:spPr>
          <a:xfrm>
            <a:off x="548640" y="2834640"/>
            <a:ext cx="3931920" cy="1554480"/>
          </a:xfrm>
          <a:prstGeom prst="roundRect">
            <a:avLst>
              <a:gd name="adj" fmla="val 705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31520" y="297180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Behind flags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731520" y="3383280"/>
            <a:ext cx="3566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Cross-chain donations, unified balance donations and passkeys turn on only after the live canary confirms each.</a:t>
            </a:r>
            <a:endParaRPr lang="en-US" sz="1400" dirty="0"/>
          </a:p>
        </p:txBody>
      </p:sp>
      <p:sp>
        <p:nvSpPr>
          <p:cNvPr id="12" name="card-29"/>
          <p:cNvSpPr/>
          <p:nvPr/>
        </p:nvSpPr>
        <p:spPr>
          <a:xfrm>
            <a:off x="4663440" y="2834640"/>
            <a:ext cx="3931920" cy="1554480"/>
          </a:xfrm>
          <a:prstGeom prst="roundRect">
            <a:avLst>
              <a:gd name="adj" fmla="val 705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846320" y="297180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EURC is Arc only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4846320" y="3383280"/>
            <a:ext cx="3566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On a fork, EURC CCTP burns from Arc revert with "Burn token not supported". We follow on-chain state.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68172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Proposed grant milestones</a:t>
            </a:r>
            <a:endParaRPr lang="en-US" sz="2600" dirty="0"/>
          </a:p>
        </p:txBody>
      </p:sp>
      <p:sp>
        <p:nvSpPr>
          <p:cNvPr id="3" name="timeline"/>
          <p:cNvSpPr/>
          <p:nvPr/>
        </p:nvSpPr>
        <p:spPr>
          <a:xfrm>
            <a:off x="777240" y="1554480"/>
            <a:ext cx="6949440" cy="0"/>
          </a:xfrm>
          <a:prstGeom prst="line">
            <a:avLst/>
          </a:prstGeom>
          <a:noFill/>
          <a:ln w="25400">
            <a:solidFill>
              <a:schemeClr val="accent4"/>
            </a:solidFill>
            <a:prstDash val="solid"/>
          </a:ln>
        </p:spPr>
      </p:sp>
      <p:sp>
        <p:nvSpPr>
          <p:cNvPr id="4" name="dot-30"/>
          <p:cNvSpPr/>
          <p:nvPr/>
        </p:nvSpPr>
        <p:spPr>
          <a:xfrm>
            <a:off x="548640" y="1325880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325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92024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M1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24028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Mainnet launch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743200"/>
            <a:ext cx="1463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Verified factory, live app, canary done</a:t>
            </a:r>
            <a:endParaRPr lang="en-US" sz="1400" dirty="0"/>
          </a:p>
        </p:txBody>
      </p:sp>
      <p:sp>
        <p:nvSpPr>
          <p:cNvPr id="9" name="dot-31"/>
          <p:cNvSpPr/>
          <p:nvPr/>
        </p:nvSpPr>
        <p:spPr>
          <a:xfrm>
            <a:off x="2194560" y="132588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194560" y="1325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2194560" y="192024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M2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2194560" y="224028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Flags on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2194560" y="2743200"/>
            <a:ext cx="1463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Cross-chain donations and passkeys live</a:t>
            </a:r>
            <a:endParaRPr lang="en-US" sz="1400" dirty="0"/>
          </a:p>
        </p:txBody>
      </p:sp>
      <p:sp>
        <p:nvSpPr>
          <p:cNvPr id="14" name="dot-32"/>
          <p:cNvSpPr/>
          <p:nvPr/>
        </p:nvSpPr>
        <p:spPr>
          <a:xfrm>
            <a:off x="3840480" y="132588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3840480" y="1325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3840480" y="192024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M3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3840480" y="224028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Audit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3840480" y="2743200"/>
            <a:ext cx="1463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Third-party review of both contracts</a:t>
            </a:r>
            <a:endParaRPr lang="en-US" sz="1400" dirty="0"/>
          </a:p>
        </p:txBody>
      </p:sp>
      <p:sp>
        <p:nvSpPr>
          <p:cNvPr id="19" name="dot-33"/>
          <p:cNvSpPr/>
          <p:nvPr/>
        </p:nvSpPr>
        <p:spPr>
          <a:xfrm>
            <a:off x="5486400" y="132588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486400" y="1325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5486400" y="192024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M4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5486400" y="224028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Adoption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5486400" y="2743200"/>
            <a:ext cx="1463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[placeholder] campaigns, [placeholder] USDC</a:t>
            </a:r>
            <a:endParaRPr lang="en-US" sz="1400" dirty="0"/>
          </a:p>
        </p:txBody>
      </p:sp>
      <p:sp>
        <p:nvSpPr>
          <p:cNvPr id="24" name="dot-34"/>
          <p:cNvSpPr/>
          <p:nvPr/>
        </p:nvSpPr>
        <p:spPr>
          <a:xfrm>
            <a:off x="7132320" y="132588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132320" y="1325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7132320" y="192024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M5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7132320" y="224028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Card donations</a:t>
            </a:r>
            <a:endParaRPr lang="en-US" sz="1500" dirty="0"/>
          </a:p>
        </p:txBody>
      </p:sp>
      <p:sp>
        <p:nvSpPr>
          <p:cNvPr id="28" name="Text 26"/>
          <p:cNvSpPr txBox="1"/>
          <p:nvPr/>
        </p:nvSpPr>
        <p:spPr>
          <a:xfrm>
            <a:off x="7132320" y="2743200"/>
            <a:ext cx="1463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Onramp Kit into campaigns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68172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828800"/>
            <a:ext cx="8046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ask</a:t>
            </a: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017520"/>
            <a:ext cx="80467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accent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Circle Developer Grant with milestone-based USDC payments, and a technical review from the CCTP team on forwarded mints into contract recipients.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Fundit">
  <a:themeElements>
    <a:clrScheme name="Fundit">
      <a:dk1>
        <a:srgbClr val="101928"/>
      </a:dk1>
      <a:lt1>
        <a:srgbClr val="FFFFFF"/>
      </a:lt1>
      <a:dk2>
        <a:srgbClr val="586283"/>
      </a:dk2>
      <a:lt2>
        <a:srgbClr val="ECEFF1"/>
      </a:lt2>
      <a:accent1>
        <a:srgbClr val="FF7C0A"/>
      </a:accent1>
      <a:accent2>
        <a:srgbClr val="19B820"/>
      </a:accent2>
      <a:accent3>
        <a:srgbClr val="586283"/>
      </a:accent3>
      <a:accent4>
        <a:srgbClr val="D5DADE"/>
      </a:accent4>
      <a:accent5>
        <a:srgbClr val="172131"/>
      </a:accent5>
      <a:accent6>
        <a:srgbClr val="A3ABC4"/>
      </a:accent6>
      <a:hlink>
        <a:srgbClr val="586283"/>
      </a:hlink>
      <a:folHlink>
        <a:srgbClr val="586283"/>
      </a:folHlink>
    </a:clrScheme>
    <a:fontScheme name="Fundit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Fundit V2 pitch deck</dc:title>
  <dc:subject>PptxGenJS Presentation</dc:subject>
  <dc:creator>Fundit</dc:creator>
  <cp:lastModifiedBy>Fundit</cp:lastModifiedBy>
  <cp:revision>1</cp:revision>
  <dcterms:created xsi:type="dcterms:W3CDTF">2026-10-17T11:50:58Z</dcterms:created>
  <dcterms:modified xsi:type="dcterms:W3CDTF">2026-10-17T11:50:58Z</dcterms:modified>
</cp:coreProperties>
</file>