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79d5e46-9537-6d35-3ca0-c35144b180b0}">
          <p14:sldIdLst>
            <p14:sldId id="256"/>
          </p14:sldIdLst>
        </p14:section>
        <p14:section name="Problem" id="{7f247460-3e9c-c11b-51bb-ead51483ccd9}">
          <p14:sldIdLst>
            <p14:sldId id="257"/>
          </p14:sldIdLst>
        </p14:section>
        <p14:section name="Product" id="{d9c7f40b-8050-73bb-baaa-069215453945}">
          <p14:sldIdLst>
            <p14:sldId id="258"/>
            <p14:sldId id="259"/>
          </p14:sldIdLst>
        </p14:section>
        <p14:section name="Circle stack" id="{b92fa254-66c1-a114-42c4-6f0fc81679c5}">
          <p14:sldIdLst>
            <p14:sldId id="260"/>
          </p14:sldIdLst>
        </p14:section>
        <p14:section name="Trust" id="{9d5d788f-b52c-b3d2-9138-d4b7f1650185}">
          <p14:sldIdLst>
            <p14:sldId id="261"/>
            <p14:sldId id="262"/>
          </p14:sldIdLst>
        </p14:section>
        <p14:section name="Status" id="{ef740703-2a37-80ec-dab0-87b4dda15b45}">
          <p14:sldIdLst>
            <p14:sldId id="263"/>
          </p14:sldIdLst>
        </p14:section>
        <p14:section name="Ask" id="{c04a4778-fd71-7bb1-c98b-867b870b3efd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0:00. Open with the problem: platforms hold donor money first. Fundit gives every fundraiser its own escrow contract on Arc.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to 0:30. The three costs of custodial fundraising.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 to 1:45. Only after the mainnet deploy; before then, demo the fork build. Demo path: create a campaign, donate 1 USDC with a tip and message, show the activity list and explorer link, then withdraw to Base (only after canary C4 passes).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money: three donor paths in, one escrow, payouts out. The owner has no path to a creator balance. Treasury rotation only affects where unclaimed fees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1:45 to 2:30. Four products are planned for launch, pending canary steps C2 and C4. Cross-chain donations, unified balance donations and passkeys are built and unit-tested with mocks. On an Arc mainnet fork, the end-to-end suite simulates a forwarded mint (a plain USDC transfer and a stubbed Iris response). No Bridge Kit, Gateway or Modular Wallets call has run against Arc yet. They stay off until the live canary confirms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 to 3:15. Enforced in immutable code, and renounceOwnership always reverts. Fees are pulled, so a broken treasury never blocks a donation or withdrawal. A new treasury also collects unclaimed fees and tips. The app is a static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model: donation fee, withdrawal fee and optional tips, all visible on chain before the donor signs.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3:15 to 3:45. Pre-launch. No traction numbers yet. Every number we report later comes from on-chain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Milestone-based USDC payments. Bracketed targets are placeholders to agree with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3:45 to 4:15. State the ask,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4" name="Image 0" descr="/private/tmp/claude-501/-Users-kamsispc-kamwsp-fundit/1962da12-be15-40e7-9409-7c27ba608f83/scratchpad/build/fundit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589992" cy="3657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pic>
        <p:nvPicPr>
          <p:cNvPr id="3" name="Image 0" descr="/private/tmp/claude-501/-Users-kamsispc-kamwsp-fundit/1962da12-be15-40e7-9409-7c27ba608f83/scratchpad/build/fundi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09160"/>
            <a:ext cx="874496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26080" y="4681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Draft for Circle Developer Grants,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Crowdfunding escrow on Arc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fundraiser is its own USDC or EURC escrow contract. Only the creator can withdraw, and anyone can audit every inflow and outflow.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hold the money first</a:t>
            </a:r>
            <a:endParaRPr lang="en-US" sz="2600" dirty="0"/>
          </a:p>
        </p:txBody>
      </p:sp>
      <p:sp>
        <p:nvSpPr>
          <p:cNvPr id="3" name="card-1"/>
          <p:cNvSpPr/>
          <p:nvPr/>
        </p:nvSpPr>
        <p:spPr>
          <a:xfrm>
            <a:off x="548640" y="128016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Custody risk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platform can freeze, delay or lose funds. Donors cannot see where their money is.</a:t>
            </a:r>
            <a:endParaRPr lang="en-US" sz="1400" dirty="0"/>
          </a:p>
        </p:txBody>
      </p:sp>
      <p:sp>
        <p:nvSpPr>
          <p:cNvPr id="6" name="card-2"/>
          <p:cNvSpPr/>
          <p:nvPr/>
        </p:nvSpPr>
        <p:spPr>
          <a:xfrm>
            <a:off x="3314700" y="128016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7580" y="1417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Slow, local payouts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97580" y="182880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Creators wait days for a bank transfer. Cross-border payouts cost more and take longer.</a:t>
            </a:r>
            <a:endParaRPr lang="en-US" sz="1400" dirty="0"/>
          </a:p>
        </p:txBody>
      </p:sp>
      <p:sp>
        <p:nvSpPr>
          <p:cNvPr id="9" name="card-3"/>
          <p:cNvSpPr/>
          <p:nvPr/>
        </p:nvSpPr>
        <p:spPr>
          <a:xfrm>
            <a:off x="6080760" y="128016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17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Opaque books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2880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Donors see a total on a web page. Nobody outside the platform can audit inflows and outflows.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Fundit works</a:t>
            </a:r>
            <a:endParaRPr lang="en-US" sz="2600" dirty="0"/>
          </a:p>
        </p:txBody>
      </p:sp>
      <p:sp>
        <p:nvSpPr>
          <p:cNvPr id="3" name="dot-4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Create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USDC or EURC and a goal. The factory deploys a new escrow and copies the fees into it.</a:t>
            </a:r>
            <a:endParaRPr lang="en-US" sz="1400" dirty="0"/>
          </a:p>
        </p:txBody>
      </p:sp>
      <p:sp>
        <p:nvSpPr>
          <p:cNvPr id="7" name="dot-5"/>
          <p:cNvSpPr/>
          <p:nvPr/>
        </p:nvSpPr>
        <p:spPr>
          <a:xfrm>
            <a:off x="26060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606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Donate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3317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 from your Fundit account with a passkey. Approve and donate go in one step.</a:t>
            </a:r>
            <a:endParaRPr lang="en-US" sz="1400" dirty="0"/>
          </a:p>
        </p:txBody>
      </p:sp>
      <p:sp>
        <p:nvSpPr>
          <p:cNvPr id="11" name="dot-6"/>
          <p:cNvSpPr/>
          <p:nvPr/>
        </p:nvSpPr>
        <p:spPr>
          <a:xfrm>
            <a:off x="46634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6634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Settle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3317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USDC minted in from other chains is booked by settle() and pays the same fee.</a:t>
            </a:r>
            <a:endParaRPr lang="en-US" sz="1400" dirty="0"/>
          </a:p>
        </p:txBody>
      </p:sp>
      <p:sp>
        <p:nvSpPr>
          <p:cNvPr id="15" name="dot-7"/>
          <p:cNvSpPr/>
          <p:nvPr/>
        </p:nvSpPr>
        <p:spPr>
          <a:xfrm>
            <a:off x="6720840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7208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Withdraw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3317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creator takes funds on Arc, or gets USDC on six other chains through CCTP V2.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escrow contract per fundraiser</a:t>
            </a:r>
            <a:endParaRPr lang="en-US" sz="2600" dirty="0"/>
          </a:p>
        </p:txBody>
      </p:sp>
      <p:sp>
        <p:nvSpPr>
          <p:cNvPr id="3" name="node-8"/>
          <p:cNvSpPr/>
          <p:nvPr/>
        </p:nvSpPr>
        <p:spPr>
          <a:xfrm>
            <a:off x="548640" y="118872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58368" y="118872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Donor's Fundit account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Passkey, then donate()</a:t>
            </a:r>
            <a:endParaRPr lang="en-US" sz="1400" dirty="0"/>
          </a:p>
        </p:txBody>
      </p:sp>
      <p:sp>
        <p:nvSpPr>
          <p:cNvPr id="5" name="node-9"/>
          <p:cNvSpPr/>
          <p:nvPr/>
        </p:nvSpPr>
        <p:spPr>
          <a:xfrm>
            <a:off x="548640" y="210312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58368" y="210312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Other CCTP chain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CCTP mint, then settle()</a:t>
            </a:r>
            <a:endParaRPr lang="en-US" sz="1400" dirty="0"/>
          </a:p>
        </p:txBody>
      </p:sp>
      <p:sp>
        <p:nvSpPr>
          <p:cNvPr id="7" name="node-10"/>
          <p:cNvSpPr/>
          <p:nvPr/>
        </p:nvSpPr>
        <p:spPr>
          <a:xfrm>
            <a:off x="548640" y="301752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8368" y="301752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Plain USDC transfer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Any wallet, then settle()</a:t>
            </a:r>
            <a:endParaRPr lang="en-US" sz="1400" dirty="0"/>
          </a:p>
        </p:txBody>
      </p:sp>
      <p:sp>
        <p:nvSpPr>
          <p:cNvPr id="9" name="node-11"/>
          <p:cNvSpPr/>
          <p:nvPr/>
        </p:nvSpPr>
        <p:spPr>
          <a:xfrm>
            <a:off x="3429000" y="1737360"/>
            <a:ext cx="22860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538728" y="1737360"/>
            <a:ext cx="206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Campaign escrow on Arc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EIP-1167 clone. Holds USDC or EURC. Owner cannot move creator balances.</a:t>
            </a:r>
            <a:endParaRPr lang="en-US" sz="1400" dirty="0"/>
          </a:p>
        </p:txBody>
      </p:sp>
      <p:sp>
        <p:nvSpPr>
          <p:cNvPr id="11" name="node-12"/>
          <p:cNvSpPr/>
          <p:nvPr/>
        </p:nvSpPr>
        <p:spPr>
          <a:xfrm>
            <a:off x="3429000" y="356616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538728" y="356616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CampaignFactory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Fees copied once, capped at 5%</a:t>
            </a:r>
            <a:endParaRPr lang="en-US" sz="1400" dirty="0"/>
          </a:p>
        </p:txBody>
      </p:sp>
      <p:sp>
        <p:nvSpPr>
          <p:cNvPr id="13" name="node-13"/>
          <p:cNvSpPr/>
          <p:nvPr/>
        </p:nvSpPr>
        <p:spPr>
          <a:xfrm>
            <a:off x="6309360" y="118872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19088" y="118872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Creator on Arc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withdraw(), ERC-20 transfer</a:t>
            </a:r>
            <a:endParaRPr lang="en-US" sz="1400" dirty="0"/>
          </a:p>
        </p:txBody>
      </p:sp>
      <p:sp>
        <p:nvSpPr>
          <p:cNvPr id="15" name="node-14"/>
          <p:cNvSpPr/>
          <p:nvPr/>
        </p:nvSpPr>
        <p:spPr>
          <a:xfrm>
            <a:off x="6309360" y="210312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19088" y="210312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Creator on another chain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CCTP V2 with forwarding</a:t>
            </a:r>
            <a:endParaRPr lang="en-US" sz="1400" dirty="0"/>
          </a:p>
        </p:txBody>
      </p:sp>
      <p:sp>
        <p:nvSpPr>
          <p:cNvPr id="17" name="node-15"/>
          <p:cNvSpPr/>
          <p:nvPr/>
        </p:nvSpPr>
        <p:spPr>
          <a:xfrm>
            <a:off x="6309360" y="301752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419088" y="301752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Treasury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claimFees(), anyone can call</a:t>
            </a:r>
            <a:endParaRPr lang="en-US" sz="1400" dirty="0"/>
          </a:p>
        </p:txBody>
      </p:sp>
      <p:sp>
        <p:nvSpPr>
          <p:cNvPr id="19" name="edge-16"/>
          <p:cNvSpPr/>
          <p:nvPr/>
        </p:nvSpPr>
        <p:spPr>
          <a:xfrm>
            <a:off x="2834640" y="1554480"/>
            <a:ext cx="594360" cy="45720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edge-17"/>
          <p:cNvSpPr/>
          <p:nvPr/>
        </p:nvSpPr>
        <p:spPr>
          <a:xfrm>
            <a:off x="2834640" y="2468880"/>
            <a:ext cx="5943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21" name="edge-18"/>
          <p:cNvSpPr/>
          <p:nvPr/>
        </p:nvSpPr>
        <p:spPr>
          <a:xfrm flipV="1">
            <a:off x="2834640" y="2926080"/>
            <a:ext cx="594360" cy="45720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22" name="edge-19"/>
          <p:cNvSpPr/>
          <p:nvPr/>
        </p:nvSpPr>
        <p:spPr>
          <a:xfrm flipV="1">
            <a:off x="4572000" y="3200400"/>
            <a:ext cx="0" cy="36576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edge-20"/>
          <p:cNvSpPr/>
          <p:nvPr/>
        </p:nvSpPr>
        <p:spPr>
          <a:xfrm flipV="1">
            <a:off x="5715000" y="1554480"/>
            <a:ext cx="594360" cy="45720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edge-21"/>
          <p:cNvSpPr/>
          <p:nvPr/>
        </p:nvSpPr>
        <p:spPr>
          <a:xfrm>
            <a:off x="5715000" y="2468880"/>
            <a:ext cx="59436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edge-22"/>
          <p:cNvSpPr/>
          <p:nvPr/>
        </p:nvSpPr>
        <p:spPr>
          <a:xfrm>
            <a:off x="5715000" y="2926080"/>
            <a:ext cx="594360" cy="45720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54864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Dashed: arrives without donate(). settle() books it with the same fee.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Circle from the contract up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47472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 Fundit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chain. Gas is paid in USDC.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USDC and EURC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two campaign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CCTP V2 and Forwarding 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Payouts and sends to six chains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CCTP fees API (Iris)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and Standard fee quotes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Wallets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Fundit accounts, passkey-only sign-in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release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money from other chains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 a flag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never touches the funds</a:t>
            </a:r>
            <a:endParaRPr lang="en-US" sz="2600" dirty="0"/>
          </a:p>
        </p:txBody>
      </p:sp>
      <p:sp>
        <p:nvSpPr>
          <p:cNvPr id="3" name="card-23"/>
          <p:cNvSpPr/>
          <p:nvPr/>
        </p:nvSpPr>
        <p:spPr>
          <a:xfrm>
            <a:off x="548640" y="1188720"/>
            <a:ext cx="2514600" cy="32004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owner can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2148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fees for new campaigns, each at most 5%. Set the treasury, which also receives unclaimed fees and tips. Feature a campaign. Pause new campaigns.</a:t>
            </a:r>
            <a:endParaRPr lang="en-US" sz="1400" dirty="0"/>
          </a:p>
        </p:txBody>
      </p:sp>
      <p:sp>
        <p:nvSpPr>
          <p:cNvPr id="6" name="card-24"/>
          <p:cNvSpPr/>
          <p:nvPr/>
        </p:nvSpPr>
        <p:spPr>
          <a:xfrm>
            <a:off x="3314700" y="1188720"/>
            <a:ext cx="2514600" cy="32004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7580" y="1325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owner can never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97580" y="1737360"/>
            <a:ext cx="2148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Move, freeze or redirect a creator's balance. Pause donations or withdrawals. Change an existing campaign's fees, token or creator.</a:t>
            </a:r>
            <a:endParaRPr lang="en-US" sz="1400" dirty="0"/>
          </a:p>
        </p:txBody>
      </p:sp>
      <p:sp>
        <p:nvSpPr>
          <p:cNvPr id="9" name="card-25"/>
          <p:cNvSpPr/>
          <p:nvPr/>
        </p:nvSpPr>
        <p:spPr>
          <a:xfrm>
            <a:off x="6080760" y="1188720"/>
            <a:ext cx="2514600" cy="32004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325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Creator recovery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37360"/>
            <a:ext cx="2148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optional backup can take over after a 7-day wait. The creator keeps every power and can cancel at any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visible, fixed fees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Donation fee at launch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14700" y="12801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314700" y="2423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Withdrawal fee at launch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12801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2423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Hard cap on each fee, in code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Fees are copied into each campaign when it is created and never change for that campaign. Donors can add an optional tip. Fundit runs as a static site on free hosting, so there is no infrastructure bill.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Fundit stands today</a:t>
            </a:r>
            <a:endParaRPr lang="en-US" sz="2600" dirty="0"/>
          </a:p>
        </p:txBody>
      </p:sp>
      <p:sp>
        <p:nvSpPr>
          <p:cNvPr id="3" name="card-26"/>
          <p:cNvSpPr/>
          <p:nvPr/>
        </p:nvSpPr>
        <p:spPr>
          <a:xfrm>
            <a:off x="548640" y="118872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Built and tested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Unit, fuzz, invariant and Arc mainnet fork tests. Slither findings documented. Money tests run on Arc testnet.</a:t>
            </a:r>
            <a:endParaRPr lang="en-US" sz="1400" dirty="0"/>
          </a:p>
        </p:txBody>
      </p:sp>
      <p:sp>
        <p:nvSpPr>
          <p:cNvPr id="6" name="card-27"/>
          <p:cNvSpPr/>
          <p:nvPr/>
        </p:nvSpPr>
        <p:spPr>
          <a:xfrm>
            <a:off x="4663440" y="118872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8463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Live on Arc mainnet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Factory 0xf1b2AEF8...17d9 and implementation 0x083CE7a6...3853, verified on Sourcify. fundit.fun is live.</a:t>
            </a:r>
            <a:endParaRPr lang="en-US" sz="1400" dirty="0"/>
          </a:p>
        </p:txBody>
      </p:sp>
      <p:sp>
        <p:nvSpPr>
          <p:cNvPr id="9" name="card-28"/>
          <p:cNvSpPr/>
          <p:nvPr/>
        </p:nvSpPr>
        <p:spPr>
          <a:xfrm>
            <a:off x="548640" y="283464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315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Passkey sign-in next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83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Sign-in becomes passkey only: a Fundit account on Arc. Add money from other chains stays behind a flag.</a:t>
            </a:r>
            <a:endParaRPr lang="en-US" sz="1400" dirty="0"/>
          </a:p>
        </p:txBody>
      </p:sp>
      <p:sp>
        <p:nvSpPr>
          <p:cNvPr id="12" name="card-29"/>
          <p:cNvSpPr/>
          <p:nvPr/>
        </p:nvSpPr>
        <p:spPr>
          <a:xfrm>
            <a:off x="4663440" y="283464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8463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EURC is Arc only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83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 a fork, EURC CCTP burns from Arc revert with "Burn token not supported". We follow on-chain state.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grant milestones</a:t>
            </a:r>
            <a:endParaRPr lang="en-US" sz="2600" dirty="0"/>
          </a:p>
        </p:txBody>
      </p:sp>
      <p:sp>
        <p:nvSpPr>
          <p:cNvPr id="3" name="timeline"/>
          <p:cNvSpPr/>
          <p:nvPr/>
        </p:nvSpPr>
        <p:spPr>
          <a:xfrm>
            <a:off x="777240" y="1554480"/>
            <a:ext cx="694944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4" name="dot-30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Mainnet launch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Factory and app live, passkey sign-in released</a:t>
            </a:r>
            <a:endParaRPr lang="en-US" sz="1400" dirty="0"/>
          </a:p>
        </p:txBody>
      </p:sp>
      <p:sp>
        <p:nvSpPr>
          <p:cNvPr id="9" name="dot-31"/>
          <p:cNvSpPr/>
          <p:nvPr/>
        </p:nvSpPr>
        <p:spPr>
          <a:xfrm>
            <a:off x="219456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1945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Cross-chain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money from other chains, after testnet checks</a:t>
            </a:r>
            <a:endParaRPr lang="en-US" sz="1400" dirty="0"/>
          </a:p>
        </p:txBody>
      </p:sp>
      <p:sp>
        <p:nvSpPr>
          <p:cNvPr id="14" name="dot-32"/>
          <p:cNvSpPr/>
          <p:nvPr/>
        </p:nvSpPr>
        <p:spPr>
          <a:xfrm>
            <a:off x="384048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38404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Audit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Third-party review of both contracts</a:t>
            </a:r>
            <a:endParaRPr lang="en-US" sz="1400" dirty="0"/>
          </a:p>
        </p:txBody>
      </p:sp>
      <p:sp>
        <p:nvSpPr>
          <p:cNvPr id="19" name="dot-33"/>
          <p:cNvSpPr/>
          <p:nvPr/>
        </p:nvSpPr>
        <p:spPr>
          <a:xfrm>
            <a:off x="548640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4864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Adoption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[placeholder] campaigns, [placeholder] USDC</a:t>
            </a:r>
            <a:endParaRPr lang="en-US" sz="1400" dirty="0"/>
          </a:p>
        </p:txBody>
      </p:sp>
      <p:sp>
        <p:nvSpPr>
          <p:cNvPr id="24" name="dot-34"/>
          <p:cNvSpPr/>
          <p:nvPr/>
        </p:nvSpPr>
        <p:spPr>
          <a:xfrm>
            <a:off x="713232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1323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Card donations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Onramp Kit into campaigns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Circle Developer Grant with milestone-based USDC payments, to release passkey sign-in, add money from other chains and fund a third-party audit.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ndit">
  <a:themeElements>
    <a:clrScheme name="Fundit">
      <a:dk1>
        <a:srgbClr val="101928"/>
      </a:dk1>
      <a:lt1>
        <a:srgbClr val="FFFFFF"/>
      </a:lt1>
      <a:dk2>
        <a:srgbClr val="586283"/>
      </a:dk2>
      <a:lt2>
        <a:srgbClr val="ECEFF1"/>
      </a:lt2>
      <a:accent1>
        <a:srgbClr val="FF7C0A"/>
      </a:accent1>
      <a:accent2>
        <a:srgbClr val="19B820"/>
      </a:accent2>
      <a:accent3>
        <a:srgbClr val="586283"/>
      </a:accent3>
      <a:accent4>
        <a:srgbClr val="D5DADE"/>
      </a:accent4>
      <a:accent5>
        <a:srgbClr val="172131"/>
      </a:accent5>
      <a:accent6>
        <a:srgbClr val="A3ABC4"/>
      </a:accent6>
      <a:hlink>
        <a:srgbClr val="586283"/>
      </a:hlink>
      <a:folHlink>
        <a:srgbClr val="586283"/>
      </a:folHlink>
    </a:clrScheme>
    <a:fontScheme name="Fundi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Fundit V2 pitch deck</dc:title>
  <dc:subject>PptxGenJS Presentation</dc:subject>
  <dc:creator>Fundit</dc:creator>
  <cp:lastModifiedBy>Fundit</cp:lastModifiedBy>
  <cp:revision>1</cp:revision>
  <dcterms:created xsi:type="dcterms:W3CDTF">2026-10-17T12:01:04Z</dcterms:created>
  <dcterms:modified xsi:type="dcterms:W3CDTF">2026-10-17T12:01:05Z</dcterms:modified>
</cp:coreProperties>
</file>